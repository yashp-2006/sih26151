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12192000" cy="6858000"/>
  <p:embeddedFontLst>
    <p:embeddedFont>
      <p:font typeface="Tahoma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Tahoma-bold.fntdata"/><Relationship Id="rId12" Type="http://schemas.openxmlformats.org/officeDocument/2006/relationships/font" Target="fonts/Tahoma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2607945" y="221437"/>
            <a:ext cx="6976109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body"/>
          </p:nvPr>
        </p:nvSpPr>
        <p:spPr>
          <a:xfrm>
            <a:off x="5399913" y="1539621"/>
            <a:ext cx="5635625" cy="1918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5316092" y="6401604"/>
            <a:ext cx="1868170" cy="252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11375390" y="6401604"/>
            <a:ext cx="167640" cy="252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76421"/>
            <a:ext cx="12189714" cy="47928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0" y="6354762"/>
            <a:ext cx="12192000" cy="503555"/>
          </a:xfrm>
          <a:custGeom>
            <a:rect b="b" l="l" r="r" t="t"/>
            <a:pathLst>
              <a:path extrusionOk="0" h="503554" w="12192000">
                <a:moveTo>
                  <a:pt x="12192000" y="0"/>
                </a:moveTo>
                <a:lnTo>
                  <a:pt x="0" y="0"/>
                </a:lnTo>
                <a:lnTo>
                  <a:pt x="0" y="503237"/>
                </a:lnTo>
                <a:lnTo>
                  <a:pt x="12192000" y="5032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2607945" y="221437"/>
            <a:ext cx="6976109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5316092" y="6401604"/>
            <a:ext cx="1868170" cy="252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11375390" y="6401604"/>
            <a:ext cx="167640" cy="252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5316092" y="6401604"/>
            <a:ext cx="1868170" cy="252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11375390" y="6401604"/>
            <a:ext cx="167640" cy="252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2607945" y="221437"/>
            <a:ext cx="6976109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5316092" y="6401604"/>
            <a:ext cx="1868170" cy="252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11375390" y="6401604"/>
            <a:ext cx="167640" cy="252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idx="11" type="ftr"/>
          </p:nvPr>
        </p:nvSpPr>
        <p:spPr>
          <a:xfrm>
            <a:off x="5316092" y="6401604"/>
            <a:ext cx="1868170" cy="252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11375390" y="6401604"/>
            <a:ext cx="167640" cy="252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376421"/>
            <a:ext cx="12189714" cy="47928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2607945" y="221437"/>
            <a:ext cx="6976109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5399913" y="1539621"/>
            <a:ext cx="5635625" cy="1918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5316092" y="6401604"/>
            <a:ext cx="1868170" cy="252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11375390" y="6401604"/>
            <a:ext cx="167640" cy="252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1.png"/><Relationship Id="rId5" Type="http://schemas.openxmlformats.org/officeDocument/2006/relationships/image" Target="../media/image2.png"/><Relationship Id="rId6" Type="http://schemas.openxmlformats.org/officeDocument/2006/relationships/image" Target="../media/image21.png"/><Relationship Id="rId7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image" Target="../media/image23.png"/><Relationship Id="rId22" Type="http://schemas.openxmlformats.org/officeDocument/2006/relationships/image" Target="../media/image66.jpg"/><Relationship Id="rId21" Type="http://schemas.openxmlformats.org/officeDocument/2006/relationships/image" Target="../media/image24.png"/><Relationship Id="rId24" Type="http://schemas.openxmlformats.org/officeDocument/2006/relationships/image" Target="../media/image67.jpg"/><Relationship Id="rId23" Type="http://schemas.openxmlformats.org/officeDocument/2006/relationships/image" Target="../media/image70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9" Type="http://schemas.openxmlformats.org/officeDocument/2006/relationships/image" Target="../media/image12.png"/><Relationship Id="rId25" Type="http://schemas.openxmlformats.org/officeDocument/2006/relationships/image" Target="../media/image71.jpg"/><Relationship Id="rId5" Type="http://schemas.openxmlformats.org/officeDocument/2006/relationships/image" Target="../media/image7.png"/><Relationship Id="rId6" Type="http://schemas.openxmlformats.org/officeDocument/2006/relationships/image" Target="../media/image13.png"/><Relationship Id="rId7" Type="http://schemas.openxmlformats.org/officeDocument/2006/relationships/image" Target="../media/image11.png"/><Relationship Id="rId8" Type="http://schemas.openxmlformats.org/officeDocument/2006/relationships/image" Target="../media/image6.png"/><Relationship Id="rId11" Type="http://schemas.openxmlformats.org/officeDocument/2006/relationships/image" Target="../media/image33.jpg"/><Relationship Id="rId10" Type="http://schemas.openxmlformats.org/officeDocument/2006/relationships/image" Target="../media/image9.png"/><Relationship Id="rId13" Type="http://schemas.openxmlformats.org/officeDocument/2006/relationships/image" Target="../media/image15.png"/><Relationship Id="rId12" Type="http://schemas.openxmlformats.org/officeDocument/2006/relationships/image" Target="../media/image5.png"/><Relationship Id="rId15" Type="http://schemas.openxmlformats.org/officeDocument/2006/relationships/image" Target="../media/image10.jpg"/><Relationship Id="rId14" Type="http://schemas.openxmlformats.org/officeDocument/2006/relationships/image" Target="../media/image14.png"/><Relationship Id="rId17" Type="http://schemas.openxmlformats.org/officeDocument/2006/relationships/image" Target="../media/image28.png"/><Relationship Id="rId16" Type="http://schemas.openxmlformats.org/officeDocument/2006/relationships/image" Target="../media/image16.png"/><Relationship Id="rId19" Type="http://schemas.openxmlformats.org/officeDocument/2006/relationships/image" Target="../media/image20.jpg"/><Relationship Id="rId18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54.png"/><Relationship Id="rId22" Type="http://schemas.openxmlformats.org/officeDocument/2006/relationships/image" Target="../media/image37.png"/><Relationship Id="rId21" Type="http://schemas.openxmlformats.org/officeDocument/2006/relationships/image" Target="../media/image61.png"/><Relationship Id="rId24" Type="http://schemas.openxmlformats.org/officeDocument/2006/relationships/image" Target="../media/image42.png"/><Relationship Id="rId23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9" Type="http://schemas.openxmlformats.org/officeDocument/2006/relationships/image" Target="../media/image26.png"/><Relationship Id="rId26" Type="http://schemas.openxmlformats.org/officeDocument/2006/relationships/image" Target="../media/image41.png"/><Relationship Id="rId25" Type="http://schemas.openxmlformats.org/officeDocument/2006/relationships/image" Target="../media/image40.png"/><Relationship Id="rId28" Type="http://schemas.openxmlformats.org/officeDocument/2006/relationships/image" Target="../media/image44.png"/><Relationship Id="rId27" Type="http://schemas.openxmlformats.org/officeDocument/2006/relationships/image" Target="../media/image43.png"/><Relationship Id="rId5" Type="http://schemas.openxmlformats.org/officeDocument/2006/relationships/image" Target="../media/image19.png"/><Relationship Id="rId6" Type="http://schemas.openxmlformats.org/officeDocument/2006/relationships/image" Target="../media/image22.png"/><Relationship Id="rId29" Type="http://schemas.openxmlformats.org/officeDocument/2006/relationships/image" Target="../media/image45.png"/><Relationship Id="rId7" Type="http://schemas.openxmlformats.org/officeDocument/2006/relationships/image" Target="../media/image38.png"/><Relationship Id="rId8" Type="http://schemas.openxmlformats.org/officeDocument/2006/relationships/image" Target="../media/image47.png"/><Relationship Id="rId31" Type="http://schemas.openxmlformats.org/officeDocument/2006/relationships/image" Target="../media/image58.png"/><Relationship Id="rId30" Type="http://schemas.openxmlformats.org/officeDocument/2006/relationships/image" Target="../media/image68.png"/><Relationship Id="rId11" Type="http://schemas.openxmlformats.org/officeDocument/2006/relationships/image" Target="../media/image29.png"/><Relationship Id="rId33" Type="http://schemas.openxmlformats.org/officeDocument/2006/relationships/image" Target="../media/image52.png"/><Relationship Id="rId10" Type="http://schemas.openxmlformats.org/officeDocument/2006/relationships/image" Target="../media/image27.png"/><Relationship Id="rId32" Type="http://schemas.openxmlformats.org/officeDocument/2006/relationships/image" Target="../media/image48.png"/><Relationship Id="rId13" Type="http://schemas.openxmlformats.org/officeDocument/2006/relationships/image" Target="../media/image46.png"/><Relationship Id="rId35" Type="http://schemas.openxmlformats.org/officeDocument/2006/relationships/image" Target="../media/image73.png"/><Relationship Id="rId12" Type="http://schemas.openxmlformats.org/officeDocument/2006/relationships/image" Target="../media/image32.png"/><Relationship Id="rId34" Type="http://schemas.openxmlformats.org/officeDocument/2006/relationships/image" Target="../media/image65.png"/><Relationship Id="rId15" Type="http://schemas.openxmlformats.org/officeDocument/2006/relationships/image" Target="../media/image49.png"/><Relationship Id="rId37" Type="http://schemas.openxmlformats.org/officeDocument/2006/relationships/image" Target="../media/image59.png"/><Relationship Id="rId14" Type="http://schemas.openxmlformats.org/officeDocument/2006/relationships/image" Target="../media/image30.png"/><Relationship Id="rId36" Type="http://schemas.openxmlformats.org/officeDocument/2006/relationships/image" Target="../media/image60.png"/><Relationship Id="rId17" Type="http://schemas.openxmlformats.org/officeDocument/2006/relationships/image" Target="../media/image34.png"/><Relationship Id="rId16" Type="http://schemas.openxmlformats.org/officeDocument/2006/relationships/image" Target="../media/image36.png"/><Relationship Id="rId19" Type="http://schemas.openxmlformats.org/officeDocument/2006/relationships/image" Target="../media/image35.png"/><Relationship Id="rId18" Type="http://schemas.openxmlformats.org/officeDocument/2006/relationships/image" Target="../media/image3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1.png"/><Relationship Id="rId9" Type="http://schemas.openxmlformats.org/officeDocument/2006/relationships/image" Target="../media/image55.png"/><Relationship Id="rId5" Type="http://schemas.openxmlformats.org/officeDocument/2006/relationships/image" Target="../media/image50.png"/><Relationship Id="rId6" Type="http://schemas.openxmlformats.org/officeDocument/2006/relationships/image" Target="../media/image69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11" Type="http://schemas.openxmlformats.org/officeDocument/2006/relationships/image" Target="../media/image63.png"/><Relationship Id="rId10" Type="http://schemas.openxmlformats.org/officeDocument/2006/relationships/image" Target="../media/image62.png"/><Relationship Id="rId13" Type="http://schemas.openxmlformats.org/officeDocument/2006/relationships/image" Target="../media/image72.png"/><Relationship Id="rId12" Type="http://schemas.openxmlformats.org/officeDocument/2006/relationships/image" Target="../media/image6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hyperlink" Target="https://www.researchgate.net/publication/366760488_Opensource_Intelligence_and_Dark_Web_User_De-anonymisation?utm_source=chatgpt.com" TargetMode="External"/><Relationship Id="rId9" Type="http://schemas.openxmlformats.org/officeDocument/2006/relationships/hyperlink" Target="https://doi.org/10.1016/j.cose.2019.101684" TargetMode="External"/><Relationship Id="rId5" Type="http://schemas.openxmlformats.org/officeDocument/2006/relationships/hyperlink" Target="https://www.researchgate.net/publication/366760488_Opensource_Intelligence_and_Dark_Web_User_De-anonymisation?utm_source=chatgpt.com" TargetMode="External"/><Relationship Id="rId6" Type="http://schemas.openxmlformats.org/officeDocument/2006/relationships/hyperlink" Target="https://www.usenix.org/conference/13th-usenix-security-symposium/tor-second-generation-onion-router?utm_source=chatgpt.com" TargetMode="External"/><Relationship Id="rId7" Type="http://schemas.openxmlformats.org/officeDocument/2006/relationships/hyperlink" Target="https://www.usenix.org/conference/13th-usenix-security-symposium/tor-second-generation-onion-router?utm_source=chatgpt.com" TargetMode="External"/><Relationship Id="rId8" Type="http://schemas.openxmlformats.org/officeDocument/2006/relationships/hyperlink" Target="https://doi.org/10.1109/COMST.2021.3093615" TargetMode="External"/><Relationship Id="rId11" Type="http://schemas.openxmlformats.org/officeDocument/2006/relationships/hyperlink" Target="https://doi.org/10.1007/978-3-030-22312-0_21" TargetMode="External"/><Relationship Id="rId10" Type="http://schemas.openxmlformats.org/officeDocument/2006/relationships/hyperlink" Target="https://doi.org/10.1145/3600160.3600167" TargetMode="External"/><Relationship Id="rId13" Type="http://schemas.openxmlformats.org/officeDocument/2006/relationships/hyperlink" Target="https://doi.org/10.1080/01621459.1969.10501049" TargetMode="External"/><Relationship Id="rId12" Type="http://schemas.openxmlformats.org/officeDocument/2006/relationships/hyperlink" Target="https://doi.org/10.1080/01621459.1969.10501049" TargetMode="External"/><Relationship Id="rId15" Type="http://schemas.openxmlformats.org/officeDocument/2006/relationships/hyperlink" Target="https://github.com/Yashp-2006/SIH26151.git" TargetMode="External"/><Relationship Id="rId14" Type="http://schemas.openxmlformats.org/officeDocument/2006/relationships/hyperlink" Target="https://doi.org/10.1016/j.forsciint.2013.04.014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7"/>
          <p:cNvGrpSpPr/>
          <p:nvPr/>
        </p:nvGrpSpPr>
        <p:grpSpPr>
          <a:xfrm>
            <a:off x="6854888" y="1226692"/>
            <a:ext cx="4638675" cy="5155565"/>
            <a:chOff x="6854888" y="1226692"/>
            <a:chExt cx="4638675" cy="5155565"/>
          </a:xfrm>
        </p:grpSpPr>
        <p:sp>
          <p:nvSpPr>
            <p:cNvPr id="47" name="Google Shape;47;p7"/>
            <p:cNvSpPr/>
            <p:nvPr/>
          </p:nvSpPr>
          <p:spPr>
            <a:xfrm>
              <a:off x="6854888" y="1226692"/>
              <a:ext cx="4638675" cy="5155565"/>
            </a:xfrm>
            <a:custGeom>
              <a:rect b="b" l="l" r="r" t="t"/>
              <a:pathLst>
                <a:path extrusionOk="0" h="5155565" w="4638675">
                  <a:moveTo>
                    <a:pt x="1873313" y="0"/>
                  </a:moveTo>
                  <a:lnTo>
                    <a:pt x="1180020" y="0"/>
                  </a:lnTo>
                  <a:lnTo>
                    <a:pt x="1147367" y="5788"/>
                  </a:lnTo>
                  <a:lnTo>
                    <a:pt x="1092205" y="48702"/>
                  </a:lnTo>
                  <a:lnTo>
                    <a:pt x="1072197" y="83566"/>
                  </a:lnTo>
                  <a:lnTo>
                    <a:pt x="726249" y="881253"/>
                  </a:lnTo>
                  <a:lnTo>
                    <a:pt x="713605" y="920751"/>
                  </a:lnTo>
                  <a:lnTo>
                    <a:pt x="709390" y="962834"/>
                  </a:lnTo>
                  <a:lnTo>
                    <a:pt x="713605" y="1004893"/>
                  </a:lnTo>
                  <a:lnTo>
                    <a:pt x="726249" y="1044321"/>
                  </a:lnTo>
                  <a:lnTo>
                    <a:pt x="1072197" y="1842008"/>
                  </a:lnTo>
                  <a:lnTo>
                    <a:pt x="1092168" y="1876901"/>
                  </a:lnTo>
                  <a:lnTo>
                    <a:pt x="1118552" y="1903730"/>
                  </a:lnTo>
                  <a:lnTo>
                    <a:pt x="786955" y="2668397"/>
                  </a:lnTo>
                  <a:lnTo>
                    <a:pt x="769411" y="2714213"/>
                  </a:lnTo>
                  <a:lnTo>
                    <a:pt x="756880" y="2762369"/>
                  </a:lnTo>
                  <a:lnTo>
                    <a:pt x="749361" y="2812084"/>
                  </a:lnTo>
                  <a:lnTo>
                    <a:pt x="746855" y="2862580"/>
                  </a:lnTo>
                  <a:lnTo>
                    <a:pt x="749361" y="2913075"/>
                  </a:lnTo>
                  <a:lnTo>
                    <a:pt x="756880" y="2962790"/>
                  </a:lnTo>
                  <a:lnTo>
                    <a:pt x="769411" y="3010946"/>
                  </a:lnTo>
                  <a:lnTo>
                    <a:pt x="786955" y="3056763"/>
                  </a:lnTo>
                  <a:lnTo>
                    <a:pt x="1610550" y="4956086"/>
                  </a:lnTo>
                  <a:lnTo>
                    <a:pt x="1635991" y="5005882"/>
                  </a:lnTo>
                  <a:lnTo>
                    <a:pt x="1666114" y="5049381"/>
                  </a:lnTo>
                  <a:lnTo>
                    <a:pt x="1700357" y="5086085"/>
                  </a:lnTo>
                  <a:lnTo>
                    <a:pt x="1738162" y="5115498"/>
                  </a:lnTo>
                  <a:lnTo>
                    <a:pt x="1778968" y="5137122"/>
                  </a:lnTo>
                  <a:lnTo>
                    <a:pt x="1822215" y="5150462"/>
                  </a:lnTo>
                  <a:lnTo>
                    <a:pt x="1867344" y="5155018"/>
                  </a:lnTo>
                  <a:lnTo>
                    <a:pt x="3518090" y="5155018"/>
                  </a:lnTo>
                  <a:lnTo>
                    <a:pt x="3562089" y="5150462"/>
                  </a:lnTo>
                  <a:lnTo>
                    <a:pt x="3604828" y="5137122"/>
                  </a:lnTo>
                  <a:lnTo>
                    <a:pt x="3645500" y="5115498"/>
                  </a:lnTo>
                  <a:lnTo>
                    <a:pt x="3683294" y="5086085"/>
                  </a:lnTo>
                  <a:lnTo>
                    <a:pt x="3717402" y="5049381"/>
                  </a:lnTo>
                  <a:lnTo>
                    <a:pt x="3747017" y="5005882"/>
                  </a:lnTo>
                  <a:lnTo>
                    <a:pt x="3771328" y="4956086"/>
                  </a:lnTo>
                  <a:lnTo>
                    <a:pt x="4598479" y="3056763"/>
                  </a:lnTo>
                  <a:lnTo>
                    <a:pt x="4616023" y="3010946"/>
                  </a:lnTo>
                  <a:lnTo>
                    <a:pt x="4628554" y="2962790"/>
                  </a:lnTo>
                  <a:lnTo>
                    <a:pt x="4636073" y="2913075"/>
                  </a:lnTo>
                  <a:lnTo>
                    <a:pt x="4638579" y="2862580"/>
                  </a:lnTo>
                  <a:lnTo>
                    <a:pt x="4636073" y="2812084"/>
                  </a:lnTo>
                  <a:lnTo>
                    <a:pt x="4628554" y="2762369"/>
                  </a:lnTo>
                  <a:lnTo>
                    <a:pt x="4616023" y="2714213"/>
                  </a:lnTo>
                  <a:lnTo>
                    <a:pt x="4598479" y="2668397"/>
                  </a:lnTo>
                  <a:lnTo>
                    <a:pt x="4270904" y="1916176"/>
                  </a:lnTo>
                  <a:lnTo>
                    <a:pt x="1176972" y="1916176"/>
                  </a:lnTo>
                  <a:lnTo>
                    <a:pt x="1168640" y="1915818"/>
                  </a:lnTo>
                  <a:lnTo>
                    <a:pt x="1160414" y="1914747"/>
                  </a:lnTo>
                  <a:lnTo>
                    <a:pt x="1152308" y="1912961"/>
                  </a:lnTo>
                  <a:lnTo>
                    <a:pt x="1144333" y="1910461"/>
                  </a:lnTo>
                  <a:lnTo>
                    <a:pt x="1125156" y="1899666"/>
                  </a:lnTo>
                  <a:lnTo>
                    <a:pt x="1143698" y="1856740"/>
                  </a:lnTo>
                  <a:lnTo>
                    <a:pt x="1168717" y="1799082"/>
                  </a:lnTo>
                  <a:lnTo>
                    <a:pt x="1164018" y="1796415"/>
                  </a:lnTo>
                  <a:lnTo>
                    <a:pt x="1131925" y="1758570"/>
                  </a:lnTo>
                  <a:lnTo>
                    <a:pt x="817054" y="1035050"/>
                  </a:lnTo>
                  <a:lnTo>
                    <a:pt x="802105" y="962834"/>
                  </a:lnTo>
                  <a:lnTo>
                    <a:pt x="805838" y="925500"/>
                  </a:lnTo>
                  <a:lnTo>
                    <a:pt x="1123759" y="183387"/>
                  </a:lnTo>
                  <a:lnTo>
                    <a:pt x="1164034" y="129174"/>
                  </a:lnTo>
                  <a:lnTo>
                    <a:pt x="1219263" y="109347"/>
                  </a:lnTo>
                  <a:lnTo>
                    <a:pt x="1990839" y="109347"/>
                  </a:lnTo>
                  <a:lnTo>
                    <a:pt x="1979612" y="83566"/>
                  </a:lnTo>
                  <a:lnTo>
                    <a:pt x="1960270" y="48702"/>
                  </a:lnTo>
                  <a:lnTo>
                    <a:pt x="1934892" y="22399"/>
                  </a:lnTo>
                  <a:lnTo>
                    <a:pt x="1905299" y="5788"/>
                  </a:lnTo>
                  <a:lnTo>
                    <a:pt x="1873313" y="0"/>
                  </a:lnTo>
                  <a:close/>
                </a:path>
                <a:path extrusionOk="0" h="5155565" w="4638675">
                  <a:moveTo>
                    <a:pt x="673671" y="3125216"/>
                  </a:moveTo>
                  <a:lnTo>
                    <a:pt x="272351" y="3125216"/>
                  </a:lnTo>
                  <a:lnTo>
                    <a:pt x="253499" y="3128561"/>
                  </a:lnTo>
                  <a:lnTo>
                    <a:pt x="221559" y="3153398"/>
                  </a:lnTo>
                  <a:lnTo>
                    <a:pt x="9715" y="3635375"/>
                  </a:lnTo>
                  <a:lnTo>
                    <a:pt x="0" y="3682507"/>
                  </a:lnTo>
                  <a:lnTo>
                    <a:pt x="2428" y="3706866"/>
                  </a:lnTo>
                  <a:lnTo>
                    <a:pt x="209994" y="4191508"/>
                  </a:lnTo>
                  <a:lnTo>
                    <a:pt x="236315" y="4226893"/>
                  </a:lnTo>
                  <a:lnTo>
                    <a:pt x="272351" y="4239895"/>
                  </a:lnTo>
                  <a:lnTo>
                    <a:pt x="673671" y="4239895"/>
                  </a:lnTo>
                  <a:lnTo>
                    <a:pt x="724034" y="4211659"/>
                  </a:lnTo>
                  <a:lnTo>
                    <a:pt x="936307" y="3729736"/>
                  </a:lnTo>
                  <a:lnTo>
                    <a:pt x="946118" y="3682507"/>
                  </a:lnTo>
                  <a:lnTo>
                    <a:pt x="943665" y="3658173"/>
                  </a:lnTo>
                  <a:lnTo>
                    <a:pt x="735266" y="3173603"/>
                  </a:lnTo>
                  <a:lnTo>
                    <a:pt x="709326" y="3138170"/>
                  </a:lnTo>
                  <a:lnTo>
                    <a:pt x="673671" y="3125216"/>
                  </a:lnTo>
                  <a:close/>
                </a:path>
                <a:path extrusionOk="0" h="5155565" w="4638675">
                  <a:moveTo>
                    <a:pt x="3518090" y="570103"/>
                  </a:moveTo>
                  <a:lnTo>
                    <a:pt x="2192591" y="570103"/>
                  </a:lnTo>
                  <a:lnTo>
                    <a:pt x="2324036" y="871855"/>
                  </a:lnTo>
                  <a:lnTo>
                    <a:pt x="2336680" y="911355"/>
                  </a:lnTo>
                  <a:lnTo>
                    <a:pt x="2340895" y="953452"/>
                  </a:lnTo>
                  <a:lnTo>
                    <a:pt x="2336680" y="995549"/>
                  </a:lnTo>
                  <a:lnTo>
                    <a:pt x="2324036" y="1035050"/>
                  </a:lnTo>
                  <a:lnTo>
                    <a:pt x="1976691" y="1832737"/>
                  </a:lnTo>
                  <a:lnTo>
                    <a:pt x="1957329" y="1867580"/>
                  </a:lnTo>
                  <a:lnTo>
                    <a:pt x="1931908" y="1893839"/>
                  </a:lnTo>
                  <a:lnTo>
                    <a:pt x="1902175" y="1910461"/>
                  </a:lnTo>
                  <a:lnTo>
                    <a:pt x="1901974" y="1910461"/>
                  </a:lnTo>
                  <a:lnTo>
                    <a:pt x="1870265" y="1916176"/>
                  </a:lnTo>
                  <a:lnTo>
                    <a:pt x="4270904" y="1916176"/>
                  </a:lnTo>
                  <a:lnTo>
                    <a:pt x="3771328" y="768985"/>
                  </a:lnTo>
                  <a:lnTo>
                    <a:pt x="3747017" y="719219"/>
                  </a:lnTo>
                  <a:lnTo>
                    <a:pt x="3717402" y="675738"/>
                  </a:lnTo>
                  <a:lnTo>
                    <a:pt x="3683294" y="639042"/>
                  </a:lnTo>
                  <a:lnTo>
                    <a:pt x="3645500" y="609631"/>
                  </a:lnTo>
                  <a:lnTo>
                    <a:pt x="3604828" y="588004"/>
                  </a:lnTo>
                  <a:lnTo>
                    <a:pt x="3562089" y="574661"/>
                  </a:lnTo>
                  <a:lnTo>
                    <a:pt x="3518090" y="570103"/>
                  </a:lnTo>
                  <a:close/>
                </a:path>
                <a:path extrusionOk="0" h="5155565" w="4638675">
                  <a:moveTo>
                    <a:pt x="2097722" y="570103"/>
                  </a:moveTo>
                  <a:lnTo>
                    <a:pt x="1867344" y="570103"/>
                  </a:lnTo>
                  <a:lnTo>
                    <a:pt x="1822215" y="574661"/>
                  </a:lnTo>
                  <a:lnTo>
                    <a:pt x="1778968" y="588004"/>
                  </a:lnTo>
                  <a:lnTo>
                    <a:pt x="1738162" y="609631"/>
                  </a:lnTo>
                  <a:lnTo>
                    <a:pt x="1700357" y="639042"/>
                  </a:lnTo>
                  <a:lnTo>
                    <a:pt x="1666114" y="675738"/>
                  </a:lnTo>
                  <a:lnTo>
                    <a:pt x="1635991" y="719219"/>
                  </a:lnTo>
                  <a:lnTo>
                    <a:pt x="1610550" y="768985"/>
                  </a:lnTo>
                  <a:lnTo>
                    <a:pt x="1179639" y="1762633"/>
                  </a:lnTo>
                  <a:lnTo>
                    <a:pt x="1167574" y="1790700"/>
                  </a:lnTo>
                  <a:lnTo>
                    <a:pt x="1187386" y="1801876"/>
                  </a:lnTo>
                  <a:lnTo>
                    <a:pt x="1194429" y="1804062"/>
                  </a:lnTo>
                  <a:lnTo>
                    <a:pt x="1201626" y="1805654"/>
                  </a:lnTo>
                  <a:lnTo>
                    <a:pt x="1208942" y="1806626"/>
                  </a:lnTo>
                  <a:lnTo>
                    <a:pt x="1216342" y="1806956"/>
                  </a:lnTo>
                  <a:lnTo>
                    <a:pt x="1831022" y="1806956"/>
                  </a:lnTo>
                  <a:lnTo>
                    <a:pt x="1859142" y="1801876"/>
                  </a:lnTo>
                  <a:lnTo>
                    <a:pt x="1859298" y="1801876"/>
                  </a:lnTo>
                  <a:lnTo>
                    <a:pt x="1908121" y="1763825"/>
                  </a:lnTo>
                  <a:lnTo>
                    <a:pt x="2233231" y="1025779"/>
                  </a:lnTo>
                  <a:lnTo>
                    <a:pt x="2248185" y="953452"/>
                  </a:lnTo>
                  <a:lnTo>
                    <a:pt x="2244447" y="916122"/>
                  </a:lnTo>
                  <a:lnTo>
                    <a:pt x="2233272" y="881253"/>
                  </a:lnTo>
                  <a:lnTo>
                    <a:pt x="2097722" y="570103"/>
                  </a:lnTo>
                  <a:close/>
                </a:path>
                <a:path extrusionOk="0" h="5155565" w="4638675">
                  <a:moveTo>
                    <a:pt x="1990839" y="109347"/>
                  </a:moveTo>
                  <a:lnTo>
                    <a:pt x="1833943" y="109347"/>
                  </a:lnTo>
                  <a:lnTo>
                    <a:pt x="1862294" y="114468"/>
                  </a:lnTo>
                  <a:lnTo>
                    <a:pt x="1888537" y="129174"/>
                  </a:lnTo>
                  <a:lnTo>
                    <a:pt x="1911042" y="152477"/>
                  </a:lnTo>
                  <a:lnTo>
                    <a:pt x="1928177" y="183387"/>
                  </a:lnTo>
                  <a:lnTo>
                    <a:pt x="2092134" y="559816"/>
                  </a:lnTo>
                  <a:lnTo>
                    <a:pt x="2187003" y="559816"/>
                  </a:lnTo>
                  <a:lnTo>
                    <a:pt x="1990839" y="109347"/>
                  </a:lnTo>
                  <a:close/>
                </a:path>
              </a:pathLst>
            </a:custGeom>
            <a:solidFill>
              <a:srgbClr val="7E7E7E">
                <a:alpha val="14902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8" name="Google Shape;48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178292" y="2348610"/>
              <a:ext cx="3203448" cy="3426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" name="Google Shape;49;p7"/>
          <p:cNvSpPr txBox="1"/>
          <p:nvPr/>
        </p:nvSpPr>
        <p:spPr>
          <a:xfrm>
            <a:off x="4808376" y="1068125"/>
            <a:ext cx="22401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PRAMANA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$PPTXTitle" id="50" name="Google Shape;50;p7"/>
          <p:cNvSpPr txBox="1"/>
          <p:nvPr>
            <p:ph type="title"/>
          </p:nvPr>
        </p:nvSpPr>
        <p:spPr>
          <a:xfrm>
            <a:off x="1134262" y="319278"/>
            <a:ext cx="809434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1F487C"/>
                </a:solidFill>
              </a:rPr>
              <a:t>SMART INDIA HACKATHON 2025</a:t>
            </a:r>
            <a:endParaRPr sz="4000"/>
          </a:p>
        </p:txBody>
      </p:sp>
      <p:sp>
        <p:nvSpPr>
          <p:cNvPr id="51" name="Google Shape;51;p7"/>
          <p:cNvSpPr txBox="1"/>
          <p:nvPr/>
        </p:nvSpPr>
        <p:spPr>
          <a:xfrm>
            <a:off x="812393" y="2083765"/>
            <a:ext cx="55056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41935" lvl="0" marL="2546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Problem Statement ID – </a:t>
            </a:r>
            <a:r>
              <a:rPr b="1" lang="en-US" sz="1700">
                <a:solidFill>
                  <a:srgbClr val="18873E"/>
                </a:solidFill>
                <a:latin typeface="Arial"/>
                <a:ea typeface="Arial"/>
                <a:cs typeface="Arial"/>
                <a:sym typeface="Arial"/>
              </a:rPr>
              <a:t>SIH</a:t>
            </a:r>
            <a:r>
              <a:rPr b="1" lang="en-US" sz="1700">
                <a:solidFill>
                  <a:srgbClr val="18873E"/>
                </a:solidFill>
              </a:rPr>
              <a:t>26151</a:t>
            </a:r>
            <a:endParaRPr b="1" sz="1700">
              <a:solidFill>
                <a:srgbClr val="18873E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18873E"/>
              </a:solidFill>
            </a:endParaRPr>
          </a:p>
          <a:p>
            <a:pPr indent="-242570" lvl="0" marL="254635" marR="508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Problem  Statement  Title-  </a:t>
            </a:r>
            <a:r>
              <a:rPr b="1" lang="en-US" sz="1700">
                <a:solidFill>
                  <a:srgbClr val="18873E"/>
                </a:solidFill>
              </a:rPr>
              <a:t>Dark web threat actor de-anonymization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41935" lvl="0" marL="2546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Theme- </a:t>
            </a:r>
            <a:r>
              <a:rPr b="1" lang="en-US" sz="1700">
                <a:solidFill>
                  <a:srgbClr val="18873E"/>
                </a:solidFill>
              </a:rPr>
              <a:t>Blockchain &amp; Cybersecurity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700"/>
              <a:buFont typeface="Arial"/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41935" lvl="0" marL="2546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PS Category- </a:t>
            </a:r>
            <a:r>
              <a:rPr b="1" lang="en-US" sz="1700">
                <a:solidFill>
                  <a:srgbClr val="18873E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700"/>
              <a:buFont typeface="Arial"/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41935" lvl="0" marL="2546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Team ID- </a:t>
            </a:r>
            <a:r>
              <a:rPr b="1" lang="en-US" sz="17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 given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700"/>
              <a:buFont typeface="Arial"/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41935" lvl="0" marL="2546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Team Name- </a:t>
            </a:r>
            <a:r>
              <a:rPr b="1" lang="en-US" sz="1700">
                <a:solidFill>
                  <a:srgbClr val="18873E"/>
                </a:solidFill>
              </a:rPr>
              <a:t>localhost:3000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s://www.sih.gov.in/img1/SIH-Logo.png" id="52" name="Google Shape;5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65767" y="67312"/>
            <a:ext cx="2160343" cy="1000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57" name="Google Shape;57;p8"/>
          <p:cNvSpPr txBox="1"/>
          <p:nvPr>
            <p:ph type="title"/>
          </p:nvPr>
        </p:nvSpPr>
        <p:spPr>
          <a:xfrm>
            <a:off x="4066794" y="85090"/>
            <a:ext cx="32907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IDEA DETAILS</a:t>
            </a:r>
            <a:endParaRPr/>
          </a:p>
        </p:txBody>
      </p:sp>
      <p:grpSp>
        <p:nvGrpSpPr>
          <p:cNvPr id="58" name="Google Shape;58;p8"/>
          <p:cNvGrpSpPr/>
          <p:nvPr/>
        </p:nvGrpSpPr>
        <p:grpSpPr>
          <a:xfrm>
            <a:off x="3592195" y="4746955"/>
            <a:ext cx="8599817" cy="1609775"/>
            <a:chOff x="3592195" y="4746955"/>
            <a:chExt cx="8599817" cy="1609775"/>
          </a:xfrm>
        </p:grpSpPr>
        <p:pic>
          <p:nvPicPr>
            <p:cNvPr id="59" name="Google Shape;59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592195" y="5610605"/>
              <a:ext cx="312013" cy="746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60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614912" y="4746955"/>
              <a:ext cx="577100" cy="50309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" name="Google Shape;61;p8"/>
          <p:cNvSpPr txBox="1"/>
          <p:nvPr>
            <p:ph idx="11" type="ftr"/>
          </p:nvPr>
        </p:nvSpPr>
        <p:spPr>
          <a:xfrm>
            <a:off x="5316092" y="6401604"/>
            <a:ext cx="18681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2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62" name="Google Shape;62;p8"/>
          <p:cNvSpPr txBox="1"/>
          <p:nvPr>
            <p:ph idx="12" type="sldNum"/>
          </p:nvPr>
        </p:nvSpPr>
        <p:spPr>
          <a:xfrm>
            <a:off x="11375390" y="6401604"/>
            <a:ext cx="1677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25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8"/>
          <p:cNvSpPr txBox="1"/>
          <p:nvPr/>
        </p:nvSpPr>
        <p:spPr>
          <a:xfrm>
            <a:off x="487781" y="214376"/>
            <a:ext cx="6120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8"/>
          <p:cNvSpPr txBox="1"/>
          <p:nvPr/>
        </p:nvSpPr>
        <p:spPr>
          <a:xfrm>
            <a:off x="157976" y="862400"/>
            <a:ext cx="5372700" cy="55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50" u="sng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Proposed Solution-</a:t>
            </a:r>
            <a:r>
              <a:rPr b="1" lang="en-US" sz="2350" u="sng">
                <a:solidFill>
                  <a:srgbClr val="1F487C"/>
                </a:solidFill>
              </a:rPr>
              <a:t> PRAMANA</a:t>
            </a:r>
            <a:endParaRPr sz="235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3555" rtl="0" algn="l">
              <a:lnSpc>
                <a:spcPct val="116700"/>
              </a:lnSpc>
              <a:spcBef>
                <a:spcPts val="960"/>
              </a:spcBef>
              <a:spcAft>
                <a:spcPts val="0"/>
              </a:spcAft>
              <a:buNone/>
            </a:pPr>
            <a:r>
              <a:rPr b="1" i="1" lang="en-US" sz="1500">
                <a:solidFill>
                  <a:srgbClr val="00AF50"/>
                </a:solidFill>
              </a:rPr>
              <a:t>Evidence-Centric Attribution Platform for Dark Web Threat Actors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92710" rtl="0" algn="l">
              <a:lnSpc>
                <a:spcPct val="116700"/>
              </a:lnSpc>
              <a:spcBef>
                <a:spcPts val="1105"/>
              </a:spcBef>
              <a:spcAft>
                <a:spcPts val="0"/>
              </a:spcAft>
              <a:buNone/>
            </a:pPr>
            <a:r>
              <a:rPr lang="en-US" sz="1500"/>
              <a:t>PRAMANA is an analyst-in-the-loop platform that transforms fragmented dark-web traces into traceable, weighted and contestable evidence, helping investigators assess whether multiple personas belong to the same actor.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11150" lvl="0" marL="469900" marR="310515" rtl="0" algn="l">
              <a:lnSpc>
                <a:spcPct val="114599"/>
              </a:lnSpc>
              <a:spcBef>
                <a:spcPts val="115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-US" sz="1300">
                <a:solidFill>
                  <a:srgbClr val="1F487C"/>
                </a:solidFill>
              </a:rPr>
              <a:t>Multi-Source Collection</a:t>
            </a:r>
            <a:r>
              <a:rPr b="1" lang="en-US" sz="1300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300"/>
              <a:t>Lawful collection of dark-web, blockchain, historical and OSINT traces with sealed provenance.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69900" marR="658495" rtl="0" algn="l">
              <a:lnSpc>
                <a:spcPct val="1151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-US" sz="1300">
                <a:solidFill>
                  <a:srgbClr val="1F487C"/>
                </a:solidFill>
              </a:rPr>
              <a:t>Evidence Normalization</a:t>
            </a: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300"/>
              <a:t>Canonicalises and de-duplicates artefacts while preserving source and temporal context.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69900" marR="69215" rtl="0" algn="l">
              <a:lnSpc>
                <a:spcPct val="114599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-US" sz="1300">
                <a:solidFill>
                  <a:srgbClr val="1F487C"/>
                </a:solidFill>
              </a:rPr>
              <a:t>Intelligence Engine</a:t>
            </a: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300"/>
              <a:t>Performs probabilistic entity resolution with rarity-aware, independence-aware evidence fusion.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0515" lvl="0" marL="469265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-US" sz="1300">
                <a:solidFill>
                  <a:srgbClr val="1F487C"/>
                </a:solidFill>
              </a:rPr>
              <a:t>Counter-Evidence Analysis</a:t>
            </a:r>
            <a:r>
              <a:rPr b="1" lang="en-US" sz="1300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300"/>
              <a:t>Tests conflicting signals, common hubs and possible framing before accepting a linkage.</a:t>
            </a:r>
            <a:endParaRPr sz="1300"/>
          </a:p>
          <a:p>
            <a:pPr indent="-311150" lvl="0" marL="4572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rgbClr val="1F487C"/>
                </a:solidFill>
              </a:rPr>
              <a:t>Human-in-the-Loop Dashboard: </a:t>
            </a:r>
            <a:r>
              <a:rPr lang="en-US" sz="1300">
                <a:solidFill>
                  <a:schemeClr val="dk1"/>
                </a:solidFill>
              </a:rPr>
              <a:t>Explains evidence through graphs, timelines and evidence cards; analysts accept, reject or defer hypotheses.</a:t>
            </a:r>
            <a:endParaRPr sz="1300"/>
          </a:p>
          <a:p>
            <a:pPr indent="0" lvl="0" marL="469900" rtl="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" name="Google Shape;65;p8"/>
          <p:cNvGrpSpPr/>
          <p:nvPr/>
        </p:nvGrpSpPr>
        <p:grpSpPr>
          <a:xfrm>
            <a:off x="0" y="50311"/>
            <a:ext cx="12192000" cy="6757382"/>
            <a:chOff x="0" y="100936"/>
            <a:chExt cx="12192000" cy="6757382"/>
          </a:xfrm>
        </p:grpSpPr>
        <p:sp>
          <p:nvSpPr>
            <p:cNvPr id="66" name="Google Shape;66;p8"/>
            <p:cNvSpPr/>
            <p:nvPr/>
          </p:nvSpPr>
          <p:spPr>
            <a:xfrm>
              <a:off x="0" y="6354764"/>
              <a:ext cx="12192000" cy="503554"/>
            </a:xfrm>
            <a:custGeom>
              <a:rect b="b" l="l" r="r" t="t"/>
              <a:pathLst>
                <a:path extrusionOk="0" h="503554" w="12192000">
                  <a:moveTo>
                    <a:pt x="12192000" y="0"/>
                  </a:moveTo>
                  <a:lnTo>
                    <a:pt x="0" y="0"/>
                  </a:lnTo>
                  <a:lnTo>
                    <a:pt x="0" y="503097"/>
                  </a:lnTo>
                  <a:lnTo>
                    <a:pt x="12192000" y="503097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FC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https://www.sih.gov.in/img1/SIH-Logo.png" id="67" name="Google Shape;67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865766" y="100936"/>
              <a:ext cx="2160219" cy="7195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" name="Google Shape;68;p8"/>
          <p:cNvSpPr/>
          <p:nvPr/>
        </p:nvSpPr>
        <p:spPr>
          <a:xfrm>
            <a:off x="119125" y="212400"/>
            <a:ext cx="2006683" cy="575500"/>
          </a:xfrm>
          <a:custGeom>
            <a:rect b="b" l="l" r="r" t="t"/>
            <a:pathLst>
              <a:path extrusionOk="0" h="807719" w="1252220">
                <a:moveTo>
                  <a:pt x="0" y="403606"/>
                </a:moveTo>
                <a:lnTo>
                  <a:pt x="10085" y="331062"/>
                </a:lnTo>
                <a:lnTo>
                  <a:pt x="39161" y="262783"/>
                </a:lnTo>
                <a:lnTo>
                  <a:pt x="60268" y="230598"/>
                </a:lnTo>
                <a:lnTo>
                  <a:pt x="85461" y="199907"/>
                </a:lnTo>
                <a:lnTo>
                  <a:pt x="114517" y="170852"/>
                </a:lnTo>
                <a:lnTo>
                  <a:pt x="147216" y="143576"/>
                </a:lnTo>
                <a:lnTo>
                  <a:pt x="183337" y="118221"/>
                </a:lnTo>
                <a:lnTo>
                  <a:pt x="222658" y="94929"/>
                </a:lnTo>
                <a:lnTo>
                  <a:pt x="264960" y="73844"/>
                </a:lnTo>
                <a:lnTo>
                  <a:pt x="310021" y="55108"/>
                </a:lnTo>
                <a:lnTo>
                  <a:pt x="357619" y="38863"/>
                </a:lnTo>
                <a:lnTo>
                  <a:pt x="407534" y="25252"/>
                </a:lnTo>
                <a:lnTo>
                  <a:pt x="459545" y="14418"/>
                </a:lnTo>
                <a:lnTo>
                  <a:pt x="513432" y="6503"/>
                </a:lnTo>
                <a:lnTo>
                  <a:pt x="568972" y="1649"/>
                </a:lnTo>
                <a:lnTo>
                  <a:pt x="625944" y="0"/>
                </a:lnTo>
                <a:lnTo>
                  <a:pt x="682920" y="1649"/>
                </a:lnTo>
                <a:lnTo>
                  <a:pt x="738462" y="6503"/>
                </a:lnTo>
                <a:lnTo>
                  <a:pt x="792351" y="14418"/>
                </a:lnTo>
                <a:lnTo>
                  <a:pt x="844364" y="25252"/>
                </a:lnTo>
                <a:lnTo>
                  <a:pt x="894282" y="38863"/>
                </a:lnTo>
                <a:lnTo>
                  <a:pt x="941884" y="55108"/>
                </a:lnTo>
                <a:lnTo>
                  <a:pt x="986947" y="73844"/>
                </a:lnTo>
                <a:lnTo>
                  <a:pt x="1029251" y="94929"/>
                </a:lnTo>
                <a:lnTo>
                  <a:pt x="1068576" y="118221"/>
                </a:lnTo>
                <a:lnTo>
                  <a:pt x="1104699" y="143576"/>
                </a:lnTo>
                <a:lnTo>
                  <a:pt x="1137401" y="170852"/>
                </a:lnTo>
                <a:lnTo>
                  <a:pt x="1166459" y="199907"/>
                </a:lnTo>
                <a:lnTo>
                  <a:pt x="1191654" y="230598"/>
                </a:lnTo>
                <a:lnTo>
                  <a:pt x="1212763" y="262783"/>
                </a:lnTo>
                <a:lnTo>
                  <a:pt x="1241842" y="331062"/>
                </a:lnTo>
                <a:lnTo>
                  <a:pt x="1251927" y="403606"/>
                </a:lnTo>
                <a:lnTo>
                  <a:pt x="1249369" y="440359"/>
                </a:lnTo>
                <a:lnTo>
                  <a:pt x="1229566" y="510946"/>
                </a:lnTo>
                <a:lnTo>
                  <a:pt x="1191654" y="576692"/>
                </a:lnTo>
                <a:lnTo>
                  <a:pt x="1166459" y="607393"/>
                </a:lnTo>
                <a:lnTo>
                  <a:pt x="1137401" y="636457"/>
                </a:lnTo>
                <a:lnTo>
                  <a:pt x="1104699" y="663741"/>
                </a:lnTo>
                <a:lnTo>
                  <a:pt x="1068576" y="689101"/>
                </a:lnTo>
                <a:lnTo>
                  <a:pt x="1029251" y="712398"/>
                </a:lnTo>
                <a:lnTo>
                  <a:pt x="986947" y="733486"/>
                </a:lnTo>
                <a:lnTo>
                  <a:pt x="941884" y="752225"/>
                </a:lnTo>
                <a:lnTo>
                  <a:pt x="894282" y="768472"/>
                </a:lnTo>
                <a:lnTo>
                  <a:pt x="844364" y="782084"/>
                </a:lnTo>
                <a:lnTo>
                  <a:pt x="792351" y="792919"/>
                </a:lnTo>
                <a:lnTo>
                  <a:pt x="738462" y="800835"/>
                </a:lnTo>
                <a:lnTo>
                  <a:pt x="682920" y="805689"/>
                </a:lnTo>
                <a:lnTo>
                  <a:pt x="625944" y="807339"/>
                </a:lnTo>
                <a:lnTo>
                  <a:pt x="568972" y="805689"/>
                </a:lnTo>
                <a:lnTo>
                  <a:pt x="513432" y="800835"/>
                </a:lnTo>
                <a:lnTo>
                  <a:pt x="459545" y="792919"/>
                </a:lnTo>
                <a:lnTo>
                  <a:pt x="407534" y="782084"/>
                </a:lnTo>
                <a:lnTo>
                  <a:pt x="357619" y="768472"/>
                </a:lnTo>
                <a:lnTo>
                  <a:pt x="310021" y="752225"/>
                </a:lnTo>
                <a:lnTo>
                  <a:pt x="264960" y="733486"/>
                </a:lnTo>
                <a:lnTo>
                  <a:pt x="222658" y="712398"/>
                </a:lnTo>
                <a:lnTo>
                  <a:pt x="183337" y="689102"/>
                </a:lnTo>
                <a:lnTo>
                  <a:pt x="147216" y="663741"/>
                </a:lnTo>
                <a:lnTo>
                  <a:pt x="114517" y="636457"/>
                </a:lnTo>
                <a:lnTo>
                  <a:pt x="85461" y="607393"/>
                </a:lnTo>
                <a:lnTo>
                  <a:pt x="60268" y="576692"/>
                </a:lnTo>
                <a:lnTo>
                  <a:pt x="39161" y="544496"/>
                </a:lnTo>
                <a:lnTo>
                  <a:pt x="10085" y="476187"/>
                </a:lnTo>
                <a:lnTo>
                  <a:pt x="0" y="403606"/>
                </a:lnTo>
                <a:close/>
              </a:path>
            </a:pathLst>
          </a:custGeom>
          <a:noFill/>
          <a:ln cap="flat" cmpd="sng" w="25400">
            <a:solidFill>
              <a:srgbClr val="8063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8"/>
          <p:cNvSpPr txBox="1"/>
          <p:nvPr/>
        </p:nvSpPr>
        <p:spPr>
          <a:xfrm>
            <a:off x="419564" y="327150"/>
            <a:ext cx="15894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localhost:3000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" name="Google Shape;70;p8" title="ChatGPT Image Sep 10, 2026, 11_51_18 PM.png"/>
          <p:cNvPicPr preferRelativeResize="0"/>
          <p:nvPr/>
        </p:nvPicPr>
        <p:blipFill rotWithShape="1">
          <a:blip r:embed="rId6">
            <a:alphaModFix/>
          </a:blip>
          <a:srcRect b="21722" l="0" r="0" t="0"/>
          <a:stretch/>
        </p:blipFill>
        <p:spPr>
          <a:xfrm>
            <a:off x="5472425" y="1222350"/>
            <a:ext cx="6429136" cy="251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8" title="ChatGPT Image Sep 10, 2026, 11_54_30 PM.png"/>
          <p:cNvPicPr preferRelativeResize="0"/>
          <p:nvPr/>
        </p:nvPicPr>
        <p:blipFill rotWithShape="1">
          <a:blip r:embed="rId7">
            <a:alphaModFix/>
          </a:blip>
          <a:srcRect b="22970" l="0" r="0" t="0"/>
          <a:stretch/>
        </p:blipFill>
        <p:spPr>
          <a:xfrm>
            <a:off x="5472425" y="3738700"/>
            <a:ext cx="6565901" cy="226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/>
          <p:nvPr/>
        </p:nvSpPr>
        <p:spPr>
          <a:xfrm>
            <a:off x="0" y="6354762"/>
            <a:ext cx="12192000" cy="503555"/>
          </a:xfrm>
          <a:custGeom>
            <a:rect b="b" l="l" r="r" t="t"/>
            <a:pathLst>
              <a:path extrusionOk="0" h="503554" w="12192000">
                <a:moveTo>
                  <a:pt x="12192000" y="0"/>
                </a:moveTo>
                <a:lnTo>
                  <a:pt x="0" y="0"/>
                </a:lnTo>
                <a:lnTo>
                  <a:pt x="0" y="503237"/>
                </a:lnTo>
                <a:lnTo>
                  <a:pt x="12192000" y="5032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$PPTXTitle" id="77" name="Google Shape;77;p9"/>
          <p:cNvSpPr txBox="1"/>
          <p:nvPr>
            <p:ph type="title"/>
          </p:nvPr>
        </p:nvSpPr>
        <p:spPr>
          <a:xfrm>
            <a:off x="2607945" y="221437"/>
            <a:ext cx="6976109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750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TECHNICAL APPROACH</a:t>
            </a:r>
            <a:endParaRPr/>
          </a:p>
        </p:txBody>
      </p:sp>
      <p:pic>
        <p:nvPicPr>
          <p:cNvPr descr="https://www.sih.gov.in/img1/SIH-Logo.png" id="78" name="Google Shape;7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65767" y="118112"/>
            <a:ext cx="2160343" cy="100081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9"/>
          <p:cNvSpPr txBox="1"/>
          <p:nvPr/>
        </p:nvSpPr>
        <p:spPr>
          <a:xfrm>
            <a:off x="226392" y="1327895"/>
            <a:ext cx="4678800" cy="20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169545" lvl="0" marL="181610" marR="279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b="1" lang="en-US" sz="1100"/>
              <a:t>Frontend</a:t>
            </a:r>
            <a:endParaRPr b="1" sz="1100"/>
          </a:p>
          <a:p>
            <a:pPr indent="0" lvl="0" marL="457200" marR="279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React 19 · TypeScript · Vite · Tailwind v4 · jsPDF</a:t>
            </a:r>
            <a:endParaRPr sz="1100"/>
          </a:p>
          <a:p>
            <a:pPr indent="-169545" lvl="0" marL="181610" marR="279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b="1" lang="en-US" sz="1100"/>
              <a:t>Backend</a:t>
            </a:r>
            <a:endParaRPr b="1" sz="1100"/>
          </a:p>
          <a:p>
            <a:pPr indent="0" lvl="0" marL="457200" marR="279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Python · FastAPI · Cloudflare Workers</a:t>
            </a:r>
            <a:endParaRPr sz="1100"/>
          </a:p>
          <a:p>
            <a:pPr indent="-169545" lvl="0" marL="181610" marR="279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b="1" lang="en-US" sz="1100"/>
              <a:t>Deterministic ML</a:t>
            </a:r>
            <a:endParaRPr b="1" sz="1100"/>
          </a:p>
          <a:p>
            <a:pPr indent="0" lvl="0" marL="457200" marR="279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BTC/PGP/Onion extraction · SimHash/pHash · IDF rarity</a:t>
            </a:r>
            <a:endParaRPr sz="1100"/>
          </a:p>
          <a:p>
            <a:pPr indent="-169545" lvl="0" marL="181610" marR="279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b="1" lang="en-US" sz="1100"/>
              <a:t>Advanced ML</a:t>
            </a:r>
            <a:endParaRPr b="1" sz="1100"/>
          </a:p>
          <a:p>
            <a:pPr indent="0" lvl="0" marL="457200" marR="279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Embeddings · Stylometry · Graph features · Evasion detection</a:t>
            </a:r>
            <a:endParaRPr sz="1100"/>
          </a:p>
          <a:p>
            <a:pPr indent="-169545" lvl="0" marL="181610" marR="279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b="1" lang="en-US" sz="1100"/>
              <a:t>Cyber Layer</a:t>
            </a:r>
            <a:endParaRPr b="1" sz="1100"/>
          </a:p>
          <a:p>
            <a:pPr indent="0" lvl="0" marL="457200" marR="279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SHA-256 sealing · Hash-chained ledger · Offline review</a:t>
            </a:r>
            <a:endParaRPr sz="1100"/>
          </a:p>
          <a:p>
            <a:pPr indent="-169545" lvl="0" marL="181610" marR="279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b="1" lang="en-US" sz="1100"/>
              <a:t>Data &amp; Integrity</a:t>
            </a:r>
            <a:endParaRPr b="1" sz="1100"/>
          </a:p>
          <a:p>
            <a:pPr indent="0" lvl="0" marL="457200" marR="279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Evidence Candidate</a:t>
            </a:r>
            <a:r>
              <a:rPr lang="en-US" sz="1100"/>
              <a:t> schema · RANGE-SIM v0.1 · k ≥ 2 gate</a:t>
            </a:r>
            <a:endParaRPr sz="1100"/>
          </a:p>
        </p:txBody>
      </p:sp>
      <p:sp>
        <p:nvSpPr>
          <p:cNvPr id="80" name="Google Shape;80;p9"/>
          <p:cNvSpPr txBox="1"/>
          <p:nvPr/>
        </p:nvSpPr>
        <p:spPr>
          <a:xfrm>
            <a:off x="5770626" y="1065657"/>
            <a:ext cx="31610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Implementation and Strategy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9"/>
          <p:cNvSpPr/>
          <p:nvPr/>
        </p:nvSpPr>
        <p:spPr>
          <a:xfrm>
            <a:off x="5696077" y="1525777"/>
            <a:ext cx="6166485" cy="0"/>
          </a:xfrm>
          <a:custGeom>
            <a:rect b="b" l="l" r="r" t="t"/>
            <a:pathLst>
              <a:path extrusionOk="0" h="120000" w="6166484">
                <a:moveTo>
                  <a:pt x="0" y="0"/>
                </a:moveTo>
                <a:lnTo>
                  <a:pt x="6166104" y="0"/>
                </a:lnTo>
              </a:path>
            </a:pathLst>
          </a:custGeom>
          <a:noFill/>
          <a:ln cap="flat" cmpd="sng" w="25400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9"/>
          <p:cNvSpPr txBox="1"/>
          <p:nvPr/>
        </p:nvSpPr>
        <p:spPr>
          <a:xfrm>
            <a:off x="5733669" y="1533601"/>
            <a:ext cx="10866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12700" marR="5080" rtl="0" algn="l">
              <a:lnSpc>
                <a:spcPct val="86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Core Prototype 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9"/>
          <p:cNvSpPr txBox="1"/>
          <p:nvPr/>
        </p:nvSpPr>
        <p:spPr>
          <a:xfrm>
            <a:off x="7024558" y="1562688"/>
            <a:ext cx="4742700" cy="1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0">
            <a:spAutoFit/>
          </a:bodyPr>
          <a:lstStyle/>
          <a:p>
            <a:pPr indent="0" lvl="0" marL="12700" marR="5080" rtl="0" algn="l">
              <a:lnSpc>
                <a:spcPct val="8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AF50"/>
                </a:solidFill>
              </a:rPr>
              <a:t>Evidence</a:t>
            </a:r>
            <a:r>
              <a:rPr b="1" lang="en-US" sz="900">
                <a:solidFill>
                  <a:srgbClr val="00AF50"/>
                </a:solidFill>
              </a:rPr>
              <a:t> Balance Sheet</a:t>
            </a:r>
            <a:r>
              <a:rPr b="1" lang="en-US" sz="90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900"/>
              <a:t> Auditable signal-level evidence + counter-evidence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9"/>
          <p:cNvSpPr/>
          <p:nvPr/>
        </p:nvSpPr>
        <p:spPr>
          <a:xfrm>
            <a:off x="6948996" y="1775873"/>
            <a:ext cx="4933315" cy="0"/>
          </a:xfrm>
          <a:custGeom>
            <a:rect b="b" l="l" r="r" t="t"/>
            <a:pathLst>
              <a:path extrusionOk="0" h="120000" w="4933315">
                <a:moveTo>
                  <a:pt x="0" y="0"/>
                </a:moveTo>
                <a:lnTo>
                  <a:pt x="4932933" y="0"/>
                </a:lnTo>
              </a:path>
            </a:pathLst>
          </a:custGeom>
          <a:noFill/>
          <a:ln cap="flat" cmpd="sng" w="25400">
            <a:solidFill>
              <a:srgbClr val="C2C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9"/>
          <p:cNvSpPr txBox="1"/>
          <p:nvPr/>
        </p:nvSpPr>
        <p:spPr>
          <a:xfrm>
            <a:off x="7017808" y="1784600"/>
            <a:ext cx="47562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000">
            <a:spAutoFit/>
          </a:bodyPr>
          <a:lstStyle/>
          <a:p>
            <a:pPr indent="0" lvl="0" marL="12700" marR="5080" rtl="0" algn="l">
              <a:lnSpc>
                <a:spcPct val="102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AF50"/>
                </a:solidFill>
              </a:rPr>
              <a:t>Independence-Aware Fusion:</a:t>
            </a:r>
            <a:r>
              <a:rPr b="1" lang="en-US" sz="9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/>
              <a:t>9 families · λ-damping · k ≥ 2 gate</a:t>
            </a:r>
            <a:endParaRPr sz="900"/>
          </a:p>
          <a:p>
            <a:pPr indent="0" lvl="0" marL="12700" marR="5080" rtl="0" algn="l">
              <a:lnSpc>
                <a:spcPct val="102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29.8% → 1.5% false merges</a:t>
            </a:r>
            <a:endParaRPr sz="900"/>
          </a:p>
          <a:p>
            <a:pPr indent="0" lvl="0" marL="12700" marR="5080" rtl="0" algn="l">
              <a:lnSpc>
                <a:spcPct val="102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28% → 88% precision</a:t>
            </a:r>
            <a:endParaRPr sz="900"/>
          </a:p>
          <a:p>
            <a:pPr indent="0" lvl="0" marL="12700" marR="5080" rtl="0" algn="l">
              <a:lnSpc>
                <a:spcPct val="102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20/20 decoys refused</a:t>
            </a:r>
            <a:endParaRPr sz="900"/>
          </a:p>
        </p:txBody>
      </p:sp>
      <p:sp>
        <p:nvSpPr>
          <p:cNvPr id="86" name="Google Shape;86;p9"/>
          <p:cNvSpPr/>
          <p:nvPr/>
        </p:nvSpPr>
        <p:spPr>
          <a:xfrm>
            <a:off x="6929246" y="2464697"/>
            <a:ext cx="4933315" cy="0"/>
          </a:xfrm>
          <a:custGeom>
            <a:rect b="b" l="l" r="r" t="t"/>
            <a:pathLst>
              <a:path extrusionOk="0" h="120000" w="4933315">
                <a:moveTo>
                  <a:pt x="0" y="0"/>
                </a:moveTo>
                <a:lnTo>
                  <a:pt x="4932933" y="0"/>
                </a:lnTo>
              </a:path>
            </a:pathLst>
          </a:custGeom>
          <a:noFill/>
          <a:ln cap="flat" cmpd="sng" w="25400">
            <a:solidFill>
              <a:srgbClr val="C2C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9"/>
          <p:cNvSpPr txBox="1"/>
          <p:nvPr/>
        </p:nvSpPr>
        <p:spPr>
          <a:xfrm>
            <a:off x="6995596" y="2518189"/>
            <a:ext cx="44553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AF50"/>
                </a:solidFill>
              </a:rPr>
              <a:t>Deterministic Cyber Slice</a:t>
            </a:r>
            <a:r>
              <a:rPr b="1" lang="en-US" sz="90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900"/>
              <a:t>Offline · SHA-256 · validation · hub suppression</a:t>
            </a:r>
            <a:endParaRPr sz="900"/>
          </a:p>
          <a:p>
            <a:pPr indent="0" lvl="0" marL="127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76 tests passing</a:t>
            </a:r>
            <a:endParaRPr sz="900"/>
          </a:p>
        </p:txBody>
      </p:sp>
      <p:sp>
        <p:nvSpPr>
          <p:cNvPr id="88" name="Google Shape;88;p9"/>
          <p:cNvSpPr/>
          <p:nvPr/>
        </p:nvSpPr>
        <p:spPr>
          <a:xfrm>
            <a:off x="6929246" y="2877692"/>
            <a:ext cx="4933315" cy="0"/>
          </a:xfrm>
          <a:custGeom>
            <a:rect b="b" l="l" r="r" t="t"/>
            <a:pathLst>
              <a:path extrusionOk="0" h="120000" w="4933315">
                <a:moveTo>
                  <a:pt x="0" y="0"/>
                </a:moveTo>
                <a:lnTo>
                  <a:pt x="4932933" y="0"/>
                </a:lnTo>
              </a:path>
            </a:pathLst>
          </a:custGeom>
          <a:noFill/>
          <a:ln cap="flat" cmpd="sng" w="25400">
            <a:solidFill>
              <a:srgbClr val="C2C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9"/>
          <p:cNvSpPr txBox="1"/>
          <p:nvPr/>
        </p:nvSpPr>
        <p:spPr>
          <a:xfrm>
            <a:off x="7044308" y="2896366"/>
            <a:ext cx="46425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000">
            <a:spAutoFit/>
          </a:bodyPr>
          <a:lstStyle/>
          <a:p>
            <a:pPr indent="0" lvl="0" marL="12700" marR="5080" rtl="0" algn="l">
              <a:lnSpc>
                <a:spcPct val="102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AF50"/>
                </a:solidFill>
              </a:rPr>
              <a:t>Multi-Vector Extraction</a:t>
            </a:r>
            <a:r>
              <a:rPr b="1" lang="en-US" sz="90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900"/>
              <a:t>List-A + List-B · rarity · stylometry · graphs · evasion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6948996" y="3140440"/>
            <a:ext cx="4933315" cy="0"/>
          </a:xfrm>
          <a:custGeom>
            <a:rect b="b" l="l" r="r" t="t"/>
            <a:pathLst>
              <a:path extrusionOk="0" h="120000" w="4933315">
                <a:moveTo>
                  <a:pt x="0" y="0"/>
                </a:moveTo>
                <a:lnTo>
                  <a:pt x="4932933" y="0"/>
                </a:lnTo>
              </a:path>
            </a:pathLst>
          </a:custGeom>
          <a:noFill/>
          <a:ln cap="flat" cmpd="sng" w="25400">
            <a:solidFill>
              <a:srgbClr val="C2C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9"/>
          <p:cNvSpPr txBox="1"/>
          <p:nvPr/>
        </p:nvSpPr>
        <p:spPr>
          <a:xfrm>
            <a:off x="7052858" y="3212466"/>
            <a:ext cx="4625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000">
            <a:spAutoFit/>
          </a:bodyPr>
          <a:lstStyle/>
          <a:p>
            <a:pPr indent="0" lvl="0" marL="12700" marR="5080" rtl="0" algn="l">
              <a:lnSpc>
                <a:spcPct val="102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AF50"/>
                </a:solidFill>
              </a:rPr>
              <a:t>In-Product Evaluation:</a:t>
            </a:r>
            <a:r>
              <a:rPr b="1" lang="en-US" sz="9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/>
              <a:t>Ablations · Cllr · P/R/F1 · refusal counts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6898896" y="3453289"/>
            <a:ext cx="4933315" cy="0"/>
          </a:xfrm>
          <a:custGeom>
            <a:rect b="b" l="l" r="r" t="t"/>
            <a:pathLst>
              <a:path extrusionOk="0" h="120000" w="4933315">
                <a:moveTo>
                  <a:pt x="0" y="0"/>
                </a:moveTo>
                <a:lnTo>
                  <a:pt x="4932933" y="0"/>
                </a:lnTo>
              </a:path>
            </a:pathLst>
          </a:custGeom>
          <a:noFill/>
          <a:ln cap="flat" cmpd="sng" w="25400">
            <a:solidFill>
              <a:srgbClr val="C2C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9"/>
          <p:cNvSpPr txBox="1"/>
          <p:nvPr/>
        </p:nvSpPr>
        <p:spPr>
          <a:xfrm rot="-5400000">
            <a:off x="4986100" y="5381975"/>
            <a:ext cx="15348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/>
              <a:t>Persistent Evidence Ledger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" name="Google Shape;94;p9"/>
          <p:cNvGrpSpPr/>
          <p:nvPr/>
        </p:nvGrpSpPr>
        <p:grpSpPr>
          <a:xfrm>
            <a:off x="5855185" y="4421101"/>
            <a:ext cx="1231436" cy="1879135"/>
            <a:chOff x="5855185" y="4421101"/>
            <a:chExt cx="1231436" cy="1879135"/>
          </a:xfrm>
        </p:grpSpPr>
        <p:pic>
          <p:nvPicPr>
            <p:cNvPr id="95" name="Google Shape;95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855185" y="4421101"/>
              <a:ext cx="1231436" cy="18791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" name="Google Shape;96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864351" y="4573536"/>
              <a:ext cx="1214615" cy="1517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" name="Google Shape;97;p9"/>
            <p:cNvSpPr/>
            <p:nvPr/>
          </p:nvSpPr>
          <p:spPr>
            <a:xfrm>
              <a:off x="5908420" y="4453115"/>
              <a:ext cx="1129665" cy="1779905"/>
            </a:xfrm>
            <a:custGeom>
              <a:rect b="b" l="l" r="r" t="t"/>
              <a:pathLst>
                <a:path extrusionOk="0" h="1779904" w="1129665">
                  <a:moveTo>
                    <a:pt x="1129461" y="0"/>
                  </a:moveTo>
                  <a:lnTo>
                    <a:pt x="0" y="0"/>
                  </a:lnTo>
                  <a:lnTo>
                    <a:pt x="0" y="1779524"/>
                  </a:lnTo>
                  <a:lnTo>
                    <a:pt x="1129461" y="1779524"/>
                  </a:lnTo>
                  <a:lnTo>
                    <a:pt x="1129461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9"/>
            <p:cNvSpPr/>
            <p:nvPr/>
          </p:nvSpPr>
          <p:spPr>
            <a:xfrm>
              <a:off x="5908420" y="4453115"/>
              <a:ext cx="1129665" cy="1779905"/>
            </a:xfrm>
            <a:custGeom>
              <a:rect b="b" l="l" r="r" t="t"/>
              <a:pathLst>
                <a:path extrusionOk="0" h="1779904" w="1129665">
                  <a:moveTo>
                    <a:pt x="0" y="1779524"/>
                  </a:moveTo>
                  <a:lnTo>
                    <a:pt x="1129461" y="1779524"/>
                  </a:lnTo>
                  <a:lnTo>
                    <a:pt x="1129461" y="0"/>
                  </a:lnTo>
                  <a:lnTo>
                    <a:pt x="0" y="0"/>
                  </a:lnTo>
                  <a:lnTo>
                    <a:pt x="0" y="1779524"/>
                  </a:lnTo>
                  <a:close/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9"/>
          <p:cNvSpPr txBox="1"/>
          <p:nvPr/>
        </p:nvSpPr>
        <p:spPr>
          <a:xfrm>
            <a:off x="5983566" y="4713834"/>
            <a:ext cx="961500" cy="10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175">
            <a:spAutoFit/>
          </a:bodyPr>
          <a:lstStyle/>
          <a:p>
            <a:pPr indent="0" lvl="0" marL="0" marR="5080" rtl="0" algn="l">
              <a:lnSpc>
                <a:spcPct val="8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</a:rPr>
              <a:t>• Immutable PostgreSQL ledger</a:t>
            </a:r>
            <a:endParaRPr sz="1100">
              <a:solidFill>
                <a:srgbClr val="FFFFFF"/>
              </a:solidFill>
            </a:endParaRPr>
          </a:p>
          <a:p>
            <a:pPr indent="0" lvl="0" marL="0" marR="5080" rtl="0" algn="l">
              <a:lnSpc>
                <a:spcPct val="8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</a:rPr>
              <a:t>• Hash-chained audit trail</a:t>
            </a:r>
            <a:endParaRPr sz="1100">
              <a:solidFill>
                <a:srgbClr val="FFFFFF"/>
              </a:solidFill>
            </a:endParaRPr>
          </a:p>
          <a:p>
            <a:pPr indent="0" lvl="0" marL="0" marR="5080" rtl="0" algn="l">
              <a:lnSpc>
                <a:spcPct val="8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</a:rPr>
              <a:t>• Trust-zone access control</a:t>
            </a:r>
            <a:endParaRPr sz="1100">
              <a:solidFill>
                <a:srgbClr val="FFFFFF"/>
              </a:solidFill>
            </a:endParaRPr>
          </a:p>
        </p:txBody>
      </p:sp>
      <p:grpSp>
        <p:nvGrpSpPr>
          <p:cNvPr id="100" name="Google Shape;100;p9"/>
          <p:cNvGrpSpPr/>
          <p:nvPr/>
        </p:nvGrpSpPr>
        <p:grpSpPr>
          <a:xfrm>
            <a:off x="5620511" y="4111764"/>
            <a:ext cx="571500" cy="573011"/>
            <a:chOff x="5620511" y="4111764"/>
            <a:chExt cx="571500" cy="573011"/>
          </a:xfrm>
        </p:grpSpPr>
        <p:pic>
          <p:nvPicPr>
            <p:cNvPr id="101" name="Google Shape;101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620511" y="4111764"/>
              <a:ext cx="571500" cy="5730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681598" y="4153801"/>
              <a:ext cx="453504" cy="4535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9"/>
            <p:cNvSpPr/>
            <p:nvPr/>
          </p:nvSpPr>
          <p:spPr>
            <a:xfrm>
              <a:off x="5681598" y="4153801"/>
              <a:ext cx="454025" cy="454025"/>
            </a:xfrm>
            <a:custGeom>
              <a:rect b="b" l="l" r="r" t="t"/>
              <a:pathLst>
                <a:path extrusionOk="0" h="454025" w="454025">
                  <a:moveTo>
                    <a:pt x="0" y="453504"/>
                  </a:moveTo>
                  <a:lnTo>
                    <a:pt x="453504" y="453504"/>
                  </a:lnTo>
                  <a:lnTo>
                    <a:pt x="453504" y="0"/>
                  </a:lnTo>
                  <a:lnTo>
                    <a:pt x="0" y="0"/>
                  </a:lnTo>
                  <a:lnTo>
                    <a:pt x="0" y="453504"/>
                  </a:lnTo>
                  <a:close/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9"/>
          <p:cNvSpPr txBox="1"/>
          <p:nvPr/>
        </p:nvSpPr>
        <p:spPr>
          <a:xfrm rot="-5400000">
            <a:off x="6589713" y="5381974"/>
            <a:ext cx="16227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/>
              <a:t>Evidence Promotion  DC-06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" name="Google Shape;105;p9"/>
          <p:cNvGrpSpPr/>
          <p:nvPr/>
        </p:nvGrpSpPr>
        <p:grpSpPr>
          <a:xfrm>
            <a:off x="7514810" y="4421101"/>
            <a:ext cx="1229934" cy="1879135"/>
            <a:chOff x="7514810" y="4421101"/>
            <a:chExt cx="1229934" cy="1879135"/>
          </a:xfrm>
        </p:grpSpPr>
        <p:pic>
          <p:nvPicPr>
            <p:cNvPr id="106" name="Google Shape;106;p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514810" y="4421101"/>
              <a:ext cx="1229934" cy="18791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07;p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543799" y="4579619"/>
              <a:ext cx="1167371" cy="11247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" name="Google Shape;108;p9"/>
            <p:cNvSpPr/>
            <p:nvPr/>
          </p:nvSpPr>
          <p:spPr>
            <a:xfrm>
              <a:off x="7567040" y="4453115"/>
              <a:ext cx="1129665" cy="1779905"/>
            </a:xfrm>
            <a:custGeom>
              <a:rect b="b" l="l" r="r" t="t"/>
              <a:pathLst>
                <a:path extrusionOk="0" h="1779904" w="1129665">
                  <a:moveTo>
                    <a:pt x="1129474" y="0"/>
                  </a:moveTo>
                  <a:lnTo>
                    <a:pt x="0" y="0"/>
                  </a:lnTo>
                  <a:lnTo>
                    <a:pt x="0" y="1779524"/>
                  </a:lnTo>
                  <a:lnTo>
                    <a:pt x="1129474" y="1779524"/>
                  </a:lnTo>
                  <a:lnTo>
                    <a:pt x="1129474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9"/>
            <p:cNvSpPr/>
            <p:nvPr/>
          </p:nvSpPr>
          <p:spPr>
            <a:xfrm>
              <a:off x="7567040" y="4453115"/>
              <a:ext cx="1129665" cy="1779905"/>
            </a:xfrm>
            <a:custGeom>
              <a:rect b="b" l="l" r="r" t="t"/>
              <a:pathLst>
                <a:path extrusionOk="0" h="1779904" w="1129665">
                  <a:moveTo>
                    <a:pt x="0" y="1779524"/>
                  </a:moveTo>
                  <a:lnTo>
                    <a:pt x="1129474" y="1779524"/>
                  </a:lnTo>
                  <a:lnTo>
                    <a:pt x="1129474" y="0"/>
                  </a:lnTo>
                  <a:lnTo>
                    <a:pt x="0" y="0"/>
                  </a:lnTo>
                  <a:lnTo>
                    <a:pt x="0" y="1779524"/>
                  </a:lnTo>
                  <a:close/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9"/>
          <p:cNvSpPr txBox="1"/>
          <p:nvPr/>
        </p:nvSpPr>
        <p:spPr>
          <a:xfrm>
            <a:off x="7665213" y="4823005"/>
            <a:ext cx="929100" cy="10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000">
            <a:spAutoFit/>
          </a:bodyPr>
          <a:lstStyle/>
          <a:p>
            <a:pPr indent="0" lvl="0" marL="0" marR="5080" rtl="0" algn="l">
              <a:lnSpc>
                <a:spcPct val="86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</a:rPr>
              <a:t>• Live List-A/B extraction</a:t>
            </a:r>
            <a:endParaRPr sz="1100">
              <a:solidFill>
                <a:srgbClr val="FFFFFF"/>
              </a:solidFill>
            </a:endParaRPr>
          </a:p>
          <a:p>
            <a:pPr indent="0" lvl="0" marL="0" marR="5080" rtl="0" algn="l">
              <a:lnSpc>
                <a:spcPct val="86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</a:rPr>
              <a:t>• Direct fusion integration</a:t>
            </a:r>
            <a:endParaRPr sz="1100">
              <a:solidFill>
                <a:srgbClr val="FFFFFF"/>
              </a:solidFill>
            </a:endParaRPr>
          </a:p>
          <a:p>
            <a:pPr indent="0" lvl="0" marL="0" marR="5080" rtl="0" algn="l">
              <a:lnSpc>
                <a:spcPct val="86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</a:rPr>
              <a:t>• Synthetic bridge removal</a:t>
            </a:r>
            <a:endParaRPr sz="1100">
              <a:solidFill>
                <a:srgbClr val="FFFFFF"/>
              </a:solidFill>
            </a:endParaRPr>
          </a:p>
        </p:txBody>
      </p:sp>
      <p:grpSp>
        <p:nvGrpSpPr>
          <p:cNvPr id="111" name="Google Shape;111;p9"/>
          <p:cNvGrpSpPr/>
          <p:nvPr/>
        </p:nvGrpSpPr>
        <p:grpSpPr>
          <a:xfrm>
            <a:off x="7278623" y="4111764"/>
            <a:ext cx="573011" cy="573011"/>
            <a:chOff x="7278623" y="4111764"/>
            <a:chExt cx="573011" cy="573011"/>
          </a:xfrm>
        </p:grpSpPr>
        <p:pic>
          <p:nvPicPr>
            <p:cNvPr id="112" name="Google Shape;112;p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278623" y="4111764"/>
              <a:ext cx="573011" cy="5730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340345" y="4153801"/>
              <a:ext cx="453504" cy="4535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9"/>
            <p:cNvSpPr/>
            <p:nvPr/>
          </p:nvSpPr>
          <p:spPr>
            <a:xfrm>
              <a:off x="7340345" y="4153801"/>
              <a:ext cx="454025" cy="454025"/>
            </a:xfrm>
            <a:custGeom>
              <a:rect b="b" l="l" r="r" t="t"/>
              <a:pathLst>
                <a:path extrusionOk="0" h="454025" w="454025">
                  <a:moveTo>
                    <a:pt x="0" y="453504"/>
                  </a:moveTo>
                  <a:lnTo>
                    <a:pt x="453504" y="453504"/>
                  </a:lnTo>
                  <a:lnTo>
                    <a:pt x="453504" y="0"/>
                  </a:lnTo>
                  <a:lnTo>
                    <a:pt x="0" y="0"/>
                  </a:lnTo>
                  <a:lnTo>
                    <a:pt x="0" y="453504"/>
                  </a:lnTo>
                  <a:close/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9"/>
          <p:cNvSpPr txBox="1"/>
          <p:nvPr/>
        </p:nvSpPr>
        <p:spPr>
          <a:xfrm rot="-5400000">
            <a:off x="8274925" y="5347350"/>
            <a:ext cx="15474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/>
              <a:t>Authorised Live Collection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" name="Google Shape;116;p9"/>
          <p:cNvGrpSpPr/>
          <p:nvPr/>
        </p:nvGrpSpPr>
        <p:grpSpPr>
          <a:xfrm>
            <a:off x="9172922" y="4421101"/>
            <a:ext cx="1231425" cy="1879135"/>
            <a:chOff x="9172922" y="4421101"/>
            <a:chExt cx="1231425" cy="1879135"/>
          </a:xfrm>
        </p:grpSpPr>
        <p:pic>
          <p:nvPicPr>
            <p:cNvPr id="117" name="Google Shape;117;p9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9172922" y="4421101"/>
              <a:ext cx="1229934" cy="18791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9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9201911" y="4579607"/>
              <a:ext cx="1202436" cy="13883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9"/>
            <p:cNvSpPr/>
            <p:nvPr/>
          </p:nvSpPr>
          <p:spPr>
            <a:xfrm>
              <a:off x="9225787" y="4453115"/>
              <a:ext cx="1129665" cy="1779905"/>
            </a:xfrm>
            <a:custGeom>
              <a:rect b="b" l="l" r="r" t="t"/>
              <a:pathLst>
                <a:path extrusionOk="0" h="1779904" w="1129665">
                  <a:moveTo>
                    <a:pt x="1129461" y="0"/>
                  </a:moveTo>
                  <a:lnTo>
                    <a:pt x="0" y="0"/>
                  </a:lnTo>
                  <a:lnTo>
                    <a:pt x="0" y="1779524"/>
                  </a:lnTo>
                  <a:lnTo>
                    <a:pt x="1129461" y="1779524"/>
                  </a:lnTo>
                  <a:lnTo>
                    <a:pt x="1129461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9"/>
            <p:cNvSpPr/>
            <p:nvPr/>
          </p:nvSpPr>
          <p:spPr>
            <a:xfrm>
              <a:off x="9225787" y="4453115"/>
              <a:ext cx="1129665" cy="1779905"/>
            </a:xfrm>
            <a:custGeom>
              <a:rect b="b" l="l" r="r" t="t"/>
              <a:pathLst>
                <a:path extrusionOk="0" h="1779904" w="1129665">
                  <a:moveTo>
                    <a:pt x="0" y="1779524"/>
                  </a:moveTo>
                  <a:lnTo>
                    <a:pt x="1129461" y="1779524"/>
                  </a:lnTo>
                  <a:lnTo>
                    <a:pt x="1129461" y="0"/>
                  </a:lnTo>
                  <a:lnTo>
                    <a:pt x="0" y="0"/>
                  </a:lnTo>
                  <a:lnTo>
                    <a:pt x="0" y="1779524"/>
                  </a:lnTo>
                  <a:close/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1" name="Google Shape;121;p9"/>
          <p:cNvSpPr txBox="1"/>
          <p:nvPr/>
        </p:nvSpPr>
        <p:spPr>
          <a:xfrm>
            <a:off x="9304309" y="4820980"/>
            <a:ext cx="9672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000">
            <a:spAutoFit/>
          </a:bodyPr>
          <a:lstStyle/>
          <a:p>
            <a:pPr indent="0" lvl="0" marL="0" marR="5080" rtl="0" algn="l">
              <a:lnSpc>
                <a:spcPct val="8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</a:rPr>
              <a:t>• Rate-limited Tor crawling</a:t>
            </a:r>
            <a:endParaRPr sz="1100">
              <a:solidFill>
                <a:srgbClr val="FFFFFF"/>
              </a:solidFill>
            </a:endParaRPr>
          </a:p>
          <a:p>
            <a:pPr indent="0" lvl="0" marL="0" marR="5080" rtl="0" algn="l">
              <a:lnSpc>
                <a:spcPct val="8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</a:rPr>
              <a:t>• CT clearnet pivots</a:t>
            </a:r>
            <a:endParaRPr sz="1100">
              <a:solidFill>
                <a:srgbClr val="FFFFFF"/>
              </a:solidFill>
            </a:endParaRPr>
          </a:p>
          <a:p>
            <a:pPr indent="0" lvl="0" marL="0" marR="5080" rtl="0" algn="l">
              <a:lnSpc>
                <a:spcPct val="8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</a:rPr>
              <a:t>• Evidence canonicalisation</a:t>
            </a:r>
            <a:endParaRPr sz="1100">
              <a:solidFill>
                <a:srgbClr val="FFFFFF"/>
              </a:solidFill>
            </a:endParaRPr>
          </a:p>
        </p:txBody>
      </p:sp>
      <p:grpSp>
        <p:nvGrpSpPr>
          <p:cNvPr id="122" name="Google Shape;122;p9"/>
          <p:cNvGrpSpPr/>
          <p:nvPr/>
        </p:nvGrpSpPr>
        <p:grpSpPr>
          <a:xfrm>
            <a:off x="8936735" y="4111764"/>
            <a:ext cx="573011" cy="573011"/>
            <a:chOff x="8936735" y="4111764"/>
            <a:chExt cx="573011" cy="573011"/>
          </a:xfrm>
        </p:grpSpPr>
        <p:pic>
          <p:nvPicPr>
            <p:cNvPr id="123" name="Google Shape;123;p9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8936735" y="4111764"/>
              <a:ext cx="573011" cy="5730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9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8998965" y="4153801"/>
              <a:ext cx="453504" cy="4535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" name="Google Shape;125;p9"/>
            <p:cNvSpPr/>
            <p:nvPr/>
          </p:nvSpPr>
          <p:spPr>
            <a:xfrm>
              <a:off x="8998965" y="4153801"/>
              <a:ext cx="454025" cy="454025"/>
            </a:xfrm>
            <a:custGeom>
              <a:rect b="b" l="l" r="r" t="t"/>
              <a:pathLst>
                <a:path extrusionOk="0" h="454025" w="454025">
                  <a:moveTo>
                    <a:pt x="0" y="453504"/>
                  </a:moveTo>
                  <a:lnTo>
                    <a:pt x="453504" y="453504"/>
                  </a:lnTo>
                  <a:lnTo>
                    <a:pt x="453504" y="0"/>
                  </a:lnTo>
                  <a:lnTo>
                    <a:pt x="0" y="0"/>
                  </a:lnTo>
                  <a:lnTo>
                    <a:pt x="0" y="453504"/>
                  </a:lnTo>
                  <a:close/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9"/>
          <p:cNvSpPr txBox="1"/>
          <p:nvPr/>
        </p:nvSpPr>
        <p:spPr>
          <a:xfrm rot="-5400000">
            <a:off x="9983125" y="5298410"/>
            <a:ext cx="14490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/>
              <a:t>RANGE-TOR Evaluation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7" name="Google Shape;127;p9"/>
          <p:cNvGrpSpPr/>
          <p:nvPr/>
        </p:nvGrpSpPr>
        <p:grpSpPr>
          <a:xfrm>
            <a:off x="10831045" y="4421101"/>
            <a:ext cx="1231436" cy="1879135"/>
            <a:chOff x="10831045" y="4421101"/>
            <a:chExt cx="1231436" cy="1879135"/>
          </a:xfrm>
        </p:grpSpPr>
        <p:pic>
          <p:nvPicPr>
            <p:cNvPr id="128" name="Google Shape;128;p9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10831045" y="4421101"/>
              <a:ext cx="1231436" cy="18791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" name="Google Shape;129;p9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10861548" y="4579607"/>
              <a:ext cx="1159751" cy="13883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" name="Google Shape;130;p9"/>
            <p:cNvSpPr/>
            <p:nvPr/>
          </p:nvSpPr>
          <p:spPr>
            <a:xfrm>
              <a:off x="10884408" y="4453115"/>
              <a:ext cx="1129665" cy="1779905"/>
            </a:xfrm>
            <a:custGeom>
              <a:rect b="b" l="l" r="r" t="t"/>
              <a:pathLst>
                <a:path extrusionOk="0" h="1779904" w="1129665">
                  <a:moveTo>
                    <a:pt x="1129461" y="0"/>
                  </a:moveTo>
                  <a:lnTo>
                    <a:pt x="0" y="0"/>
                  </a:lnTo>
                  <a:lnTo>
                    <a:pt x="0" y="1779524"/>
                  </a:lnTo>
                  <a:lnTo>
                    <a:pt x="1129461" y="1779524"/>
                  </a:lnTo>
                  <a:lnTo>
                    <a:pt x="1129461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9"/>
            <p:cNvSpPr/>
            <p:nvPr/>
          </p:nvSpPr>
          <p:spPr>
            <a:xfrm>
              <a:off x="10884408" y="4453115"/>
              <a:ext cx="1129665" cy="1779905"/>
            </a:xfrm>
            <a:custGeom>
              <a:rect b="b" l="l" r="r" t="t"/>
              <a:pathLst>
                <a:path extrusionOk="0" h="1779904" w="1129665">
                  <a:moveTo>
                    <a:pt x="0" y="1779524"/>
                  </a:moveTo>
                  <a:lnTo>
                    <a:pt x="1129461" y="1779524"/>
                  </a:lnTo>
                  <a:lnTo>
                    <a:pt x="1129461" y="0"/>
                  </a:lnTo>
                  <a:lnTo>
                    <a:pt x="0" y="0"/>
                  </a:lnTo>
                  <a:lnTo>
                    <a:pt x="0" y="1779524"/>
                  </a:lnTo>
                  <a:close/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9"/>
          <p:cNvSpPr txBox="1"/>
          <p:nvPr/>
        </p:nvSpPr>
        <p:spPr>
          <a:xfrm>
            <a:off x="11010910" y="4820980"/>
            <a:ext cx="918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000">
            <a:spAutoFit/>
          </a:bodyPr>
          <a:lstStyle/>
          <a:p>
            <a:pPr indent="0" lvl="0" marL="0" marR="5080" rtl="0" algn="l">
              <a:lnSpc>
                <a:spcPct val="8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</a:rPr>
              <a:t>• Controlled Tor testbed</a:t>
            </a:r>
            <a:endParaRPr sz="1100">
              <a:solidFill>
                <a:srgbClr val="FFFFFF"/>
              </a:solidFill>
            </a:endParaRPr>
          </a:p>
          <a:p>
            <a:pPr indent="0" lvl="0" marL="0" marR="5080" rtl="0" algn="l">
              <a:lnSpc>
                <a:spcPct val="8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</a:rPr>
              <a:t>• Known ground truth</a:t>
            </a:r>
            <a:endParaRPr sz="1100">
              <a:solidFill>
                <a:srgbClr val="FFFFFF"/>
              </a:solidFill>
            </a:endParaRPr>
          </a:p>
          <a:p>
            <a:pPr indent="0" lvl="0" marL="0" marR="5080" rtl="0" algn="l">
              <a:lnSpc>
                <a:spcPct val="8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</a:rPr>
              <a:t>• Historical archive testing</a:t>
            </a:r>
            <a:endParaRPr sz="1100">
              <a:solidFill>
                <a:srgbClr val="FFFFFF"/>
              </a:solidFill>
            </a:endParaRPr>
          </a:p>
        </p:txBody>
      </p:sp>
      <p:grpSp>
        <p:nvGrpSpPr>
          <p:cNvPr id="133" name="Google Shape;133;p9"/>
          <p:cNvGrpSpPr/>
          <p:nvPr/>
        </p:nvGrpSpPr>
        <p:grpSpPr>
          <a:xfrm>
            <a:off x="10596371" y="4111764"/>
            <a:ext cx="571500" cy="573011"/>
            <a:chOff x="10596371" y="4111764"/>
            <a:chExt cx="571500" cy="573011"/>
          </a:xfrm>
        </p:grpSpPr>
        <p:pic>
          <p:nvPicPr>
            <p:cNvPr id="134" name="Google Shape;134;p9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10596371" y="4111764"/>
              <a:ext cx="571500" cy="5730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" name="Google Shape;135;p9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10657712" y="4153801"/>
              <a:ext cx="453504" cy="4535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" name="Google Shape;136;p9"/>
            <p:cNvSpPr/>
            <p:nvPr/>
          </p:nvSpPr>
          <p:spPr>
            <a:xfrm>
              <a:off x="10657712" y="4153801"/>
              <a:ext cx="454025" cy="454025"/>
            </a:xfrm>
            <a:custGeom>
              <a:rect b="b" l="l" r="r" t="t"/>
              <a:pathLst>
                <a:path extrusionOk="0" h="454025" w="454025">
                  <a:moveTo>
                    <a:pt x="0" y="453504"/>
                  </a:moveTo>
                  <a:lnTo>
                    <a:pt x="453504" y="453504"/>
                  </a:lnTo>
                  <a:lnTo>
                    <a:pt x="453504" y="0"/>
                  </a:lnTo>
                  <a:lnTo>
                    <a:pt x="0" y="0"/>
                  </a:lnTo>
                  <a:lnTo>
                    <a:pt x="0" y="453504"/>
                  </a:lnTo>
                  <a:close/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" name="Google Shape;137;p9"/>
          <p:cNvSpPr txBox="1"/>
          <p:nvPr/>
        </p:nvSpPr>
        <p:spPr>
          <a:xfrm>
            <a:off x="5733675" y="3633936"/>
            <a:ext cx="30219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Future Scope &amp; Advanced Features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9"/>
          <p:cNvSpPr txBox="1"/>
          <p:nvPr>
            <p:ph idx="11" type="ftr"/>
          </p:nvPr>
        </p:nvSpPr>
        <p:spPr>
          <a:xfrm>
            <a:off x="5316092" y="6401604"/>
            <a:ext cx="1868170" cy="252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2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39" name="Google Shape;139;p9"/>
          <p:cNvSpPr txBox="1"/>
          <p:nvPr>
            <p:ph idx="12" type="sldNum"/>
          </p:nvPr>
        </p:nvSpPr>
        <p:spPr>
          <a:xfrm>
            <a:off x="11375390" y="6401604"/>
            <a:ext cx="167640" cy="252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25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9"/>
          <p:cNvSpPr/>
          <p:nvPr/>
        </p:nvSpPr>
        <p:spPr>
          <a:xfrm>
            <a:off x="119125" y="212400"/>
            <a:ext cx="2006683" cy="575500"/>
          </a:xfrm>
          <a:custGeom>
            <a:rect b="b" l="l" r="r" t="t"/>
            <a:pathLst>
              <a:path extrusionOk="0" h="807719" w="1252220">
                <a:moveTo>
                  <a:pt x="0" y="403606"/>
                </a:moveTo>
                <a:lnTo>
                  <a:pt x="10085" y="331062"/>
                </a:lnTo>
                <a:lnTo>
                  <a:pt x="39161" y="262783"/>
                </a:lnTo>
                <a:lnTo>
                  <a:pt x="60268" y="230598"/>
                </a:lnTo>
                <a:lnTo>
                  <a:pt x="85461" y="199907"/>
                </a:lnTo>
                <a:lnTo>
                  <a:pt x="114517" y="170852"/>
                </a:lnTo>
                <a:lnTo>
                  <a:pt x="147216" y="143576"/>
                </a:lnTo>
                <a:lnTo>
                  <a:pt x="183337" y="118221"/>
                </a:lnTo>
                <a:lnTo>
                  <a:pt x="222658" y="94929"/>
                </a:lnTo>
                <a:lnTo>
                  <a:pt x="264960" y="73844"/>
                </a:lnTo>
                <a:lnTo>
                  <a:pt x="310021" y="55108"/>
                </a:lnTo>
                <a:lnTo>
                  <a:pt x="357619" y="38863"/>
                </a:lnTo>
                <a:lnTo>
                  <a:pt x="407534" y="25252"/>
                </a:lnTo>
                <a:lnTo>
                  <a:pt x="459545" y="14418"/>
                </a:lnTo>
                <a:lnTo>
                  <a:pt x="513432" y="6503"/>
                </a:lnTo>
                <a:lnTo>
                  <a:pt x="568972" y="1649"/>
                </a:lnTo>
                <a:lnTo>
                  <a:pt x="625944" y="0"/>
                </a:lnTo>
                <a:lnTo>
                  <a:pt x="682920" y="1649"/>
                </a:lnTo>
                <a:lnTo>
                  <a:pt x="738462" y="6503"/>
                </a:lnTo>
                <a:lnTo>
                  <a:pt x="792351" y="14418"/>
                </a:lnTo>
                <a:lnTo>
                  <a:pt x="844364" y="25252"/>
                </a:lnTo>
                <a:lnTo>
                  <a:pt x="894282" y="38863"/>
                </a:lnTo>
                <a:lnTo>
                  <a:pt x="941884" y="55108"/>
                </a:lnTo>
                <a:lnTo>
                  <a:pt x="986947" y="73844"/>
                </a:lnTo>
                <a:lnTo>
                  <a:pt x="1029251" y="94929"/>
                </a:lnTo>
                <a:lnTo>
                  <a:pt x="1068576" y="118221"/>
                </a:lnTo>
                <a:lnTo>
                  <a:pt x="1104699" y="143576"/>
                </a:lnTo>
                <a:lnTo>
                  <a:pt x="1137401" y="170852"/>
                </a:lnTo>
                <a:lnTo>
                  <a:pt x="1166459" y="199907"/>
                </a:lnTo>
                <a:lnTo>
                  <a:pt x="1191654" y="230598"/>
                </a:lnTo>
                <a:lnTo>
                  <a:pt x="1212763" y="262783"/>
                </a:lnTo>
                <a:lnTo>
                  <a:pt x="1241842" y="331062"/>
                </a:lnTo>
                <a:lnTo>
                  <a:pt x="1251927" y="403606"/>
                </a:lnTo>
                <a:lnTo>
                  <a:pt x="1249369" y="440359"/>
                </a:lnTo>
                <a:lnTo>
                  <a:pt x="1229566" y="510946"/>
                </a:lnTo>
                <a:lnTo>
                  <a:pt x="1191654" y="576692"/>
                </a:lnTo>
                <a:lnTo>
                  <a:pt x="1166459" y="607393"/>
                </a:lnTo>
                <a:lnTo>
                  <a:pt x="1137401" y="636457"/>
                </a:lnTo>
                <a:lnTo>
                  <a:pt x="1104699" y="663741"/>
                </a:lnTo>
                <a:lnTo>
                  <a:pt x="1068576" y="689101"/>
                </a:lnTo>
                <a:lnTo>
                  <a:pt x="1029251" y="712398"/>
                </a:lnTo>
                <a:lnTo>
                  <a:pt x="986947" y="733486"/>
                </a:lnTo>
                <a:lnTo>
                  <a:pt x="941884" y="752225"/>
                </a:lnTo>
                <a:lnTo>
                  <a:pt x="894282" y="768472"/>
                </a:lnTo>
                <a:lnTo>
                  <a:pt x="844364" y="782084"/>
                </a:lnTo>
                <a:lnTo>
                  <a:pt x="792351" y="792919"/>
                </a:lnTo>
                <a:lnTo>
                  <a:pt x="738462" y="800835"/>
                </a:lnTo>
                <a:lnTo>
                  <a:pt x="682920" y="805689"/>
                </a:lnTo>
                <a:lnTo>
                  <a:pt x="625944" y="807339"/>
                </a:lnTo>
                <a:lnTo>
                  <a:pt x="568972" y="805689"/>
                </a:lnTo>
                <a:lnTo>
                  <a:pt x="513432" y="800835"/>
                </a:lnTo>
                <a:lnTo>
                  <a:pt x="459545" y="792919"/>
                </a:lnTo>
                <a:lnTo>
                  <a:pt x="407534" y="782084"/>
                </a:lnTo>
                <a:lnTo>
                  <a:pt x="357619" y="768472"/>
                </a:lnTo>
                <a:lnTo>
                  <a:pt x="310021" y="752225"/>
                </a:lnTo>
                <a:lnTo>
                  <a:pt x="264960" y="733486"/>
                </a:lnTo>
                <a:lnTo>
                  <a:pt x="222658" y="712398"/>
                </a:lnTo>
                <a:lnTo>
                  <a:pt x="183337" y="689102"/>
                </a:lnTo>
                <a:lnTo>
                  <a:pt x="147216" y="663741"/>
                </a:lnTo>
                <a:lnTo>
                  <a:pt x="114517" y="636457"/>
                </a:lnTo>
                <a:lnTo>
                  <a:pt x="85461" y="607393"/>
                </a:lnTo>
                <a:lnTo>
                  <a:pt x="60268" y="576692"/>
                </a:lnTo>
                <a:lnTo>
                  <a:pt x="39161" y="544496"/>
                </a:lnTo>
                <a:lnTo>
                  <a:pt x="10085" y="476187"/>
                </a:lnTo>
                <a:lnTo>
                  <a:pt x="0" y="403606"/>
                </a:lnTo>
                <a:close/>
              </a:path>
            </a:pathLst>
          </a:custGeom>
          <a:noFill/>
          <a:ln cap="flat" cmpd="sng" w="25400">
            <a:solidFill>
              <a:srgbClr val="8063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"/>
          <p:cNvSpPr txBox="1"/>
          <p:nvPr/>
        </p:nvSpPr>
        <p:spPr>
          <a:xfrm>
            <a:off x="419564" y="327150"/>
            <a:ext cx="15894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localhost:3000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 txBox="1"/>
          <p:nvPr/>
        </p:nvSpPr>
        <p:spPr>
          <a:xfrm>
            <a:off x="147800" y="831150"/>
            <a:ext cx="483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rgbClr val="1F487C"/>
                </a:solidFill>
              </a:rPr>
              <a:t>Tech Stack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43" name="Google Shape;143;p9" title="94c41a48-70b3-4d39-ab01-f290457c08ae.png"/>
          <p:cNvPicPr preferRelativeResize="0"/>
          <p:nvPr/>
        </p:nvPicPr>
        <p:blipFill rotWithShape="1">
          <a:blip r:embed="rId20">
            <a:alphaModFix/>
          </a:blip>
          <a:srcRect b="0" l="7766" r="0" t="0"/>
          <a:stretch/>
        </p:blipFill>
        <p:spPr>
          <a:xfrm>
            <a:off x="119125" y="3560775"/>
            <a:ext cx="2787199" cy="2606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9" title="ChatGPT Image Sep 10, 2026, 11_36_53 PM.png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3163737" y="4150425"/>
            <a:ext cx="2434049" cy="162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9"/>
          <p:cNvSpPr/>
          <p:nvPr/>
        </p:nvSpPr>
        <p:spPr>
          <a:xfrm>
            <a:off x="2705100" y="4816875"/>
            <a:ext cx="495300" cy="28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 just want 1 single symbol" id="146" name="Google Shape;146;p9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10594850" y="4123975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  Authorised Live Collection&#10;make symbol for this too" id="147" name="Google Shape;147;p9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8975588" y="4162075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idence Promotion  DC-06&#10;make symbol for this" id="148" name="Google Shape;148;p9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7316725" y="4094975"/>
            <a:ext cx="495276" cy="4952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ersistent Evidence Ledger&#10;make symbol fror this" id="149" name="Google Shape;149;p9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5635775" y="4112525"/>
            <a:ext cx="57150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/>
          <p:nvPr/>
        </p:nvSpPr>
        <p:spPr>
          <a:xfrm>
            <a:off x="0" y="6354762"/>
            <a:ext cx="12192000" cy="503555"/>
          </a:xfrm>
          <a:custGeom>
            <a:rect b="b" l="l" r="r" t="t"/>
            <a:pathLst>
              <a:path extrusionOk="0" h="503554" w="12192000">
                <a:moveTo>
                  <a:pt x="12192000" y="0"/>
                </a:moveTo>
                <a:lnTo>
                  <a:pt x="0" y="0"/>
                </a:lnTo>
                <a:lnTo>
                  <a:pt x="0" y="503237"/>
                </a:lnTo>
                <a:lnTo>
                  <a:pt x="12192000" y="5032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$PPTXTitle" id="155" name="Google Shape;155;p10"/>
          <p:cNvSpPr txBox="1"/>
          <p:nvPr>
            <p:ph type="title"/>
          </p:nvPr>
        </p:nvSpPr>
        <p:spPr>
          <a:xfrm>
            <a:off x="2607945" y="221437"/>
            <a:ext cx="6976109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84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FEASIBILITY AND VIABILITY</a:t>
            </a:r>
            <a:endParaRPr/>
          </a:p>
        </p:txBody>
      </p:sp>
      <p:pic>
        <p:nvPicPr>
          <p:cNvPr descr="https://www.sih.gov.in/img1/SIH-Logo.png" id="156" name="Google Shape;15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65767" y="163070"/>
            <a:ext cx="2160343" cy="100081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0"/>
          <p:cNvSpPr/>
          <p:nvPr/>
        </p:nvSpPr>
        <p:spPr>
          <a:xfrm>
            <a:off x="119125" y="212400"/>
            <a:ext cx="2006683" cy="575500"/>
          </a:xfrm>
          <a:custGeom>
            <a:rect b="b" l="l" r="r" t="t"/>
            <a:pathLst>
              <a:path extrusionOk="0" h="807719" w="1252220">
                <a:moveTo>
                  <a:pt x="0" y="403606"/>
                </a:moveTo>
                <a:lnTo>
                  <a:pt x="10085" y="331062"/>
                </a:lnTo>
                <a:lnTo>
                  <a:pt x="39161" y="262783"/>
                </a:lnTo>
                <a:lnTo>
                  <a:pt x="60268" y="230598"/>
                </a:lnTo>
                <a:lnTo>
                  <a:pt x="85461" y="199907"/>
                </a:lnTo>
                <a:lnTo>
                  <a:pt x="114517" y="170852"/>
                </a:lnTo>
                <a:lnTo>
                  <a:pt x="147216" y="143576"/>
                </a:lnTo>
                <a:lnTo>
                  <a:pt x="183337" y="118221"/>
                </a:lnTo>
                <a:lnTo>
                  <a:pt x="222658" y="94929"/>
                </a:lnTo>
                <a:lnTo>
                  <a:pt x="264960" y="73844"/>
                </a:lnTo>
                <a:lnTo>
                  <a:pt x="310021" y="55108"/>
                </a:lnTo>
                <a:lnTo>
                  <a:pt x="357619" y="38863"/>
                </a:lnTo>
                <a:lnTo>
                  <a:pt x="407534" y="25252"/>
                </a:lnTo>
                <a:lnTo>
                  <a:pt x="459545" y="14418"/>
                </a:lnTo>
                <a:lnTo>
                  <a:pt x="513432" y="6503"/>
                </a:lnTo>
                <a:lnTo>
                  <a:pt x="568972" y="1649"/>
                </a:lnTo>
                <a:lnTo>
                  <a:pt x="625944" y="0"/>
                </a:lnTo>
                <a:lnTo>
                  <a:pt x="682920" y="1649"/>
                </a:lnTo>
                <a:lnTo>
                  <a:pt x="738462" y="6503"/>
                </a:lnTo>
                <a:lnTo>
                  <a:pt x="792351" y="14418"/>
                </a:lnTo>
                <a:lnTo>
                  <a:pt x="844364" y="25252"/>
                </a:lnTo>
                <a:lnTo>
                  <a:pt x="894282" y="38863"/>
                </a:lnTo>
                <a:lnTo>
                  <a:pt x="941884" y="55108"/>
                </a:lnTo>
                <a:lnTo>
                  <a:pt x="986947" y="73844"/>
                </a:lnTo>
                <a:lnTo>
                  <a:pt x="1029251" y="94929"/>
                </a:lnTo>
                <a:lnTo>
                  <a:pt x="1068576" y="118221"/>
                </a:lnTo>
                <a:lnTo>
                  <a:pt x="1104699" y="143576"/>
                </a:lnTo>
                <a:lnTo>
                  <a:pt x="1137401" y="170852"/>
                </a:lnTo>
                <a:lnTo>
                  <a:pt x="1166459" y="199907"/>
                </a:lnTo>
                <a:lnTo>
                  <a:pt x="1191654" y="230598"/>
                </a:lnTo>
                <a:lnTo>
                  <a:pt x="1212763" y="262783"/>
                </a:lnTo>
                <a:lnTo>
                  <a:pt x="1241842" y="331062"/>
                </a:lnTo>
                <a:lnTo>
                  <a:pt x="1251927" y="403606"/>
                </a:lnTo>
                <a:lnTo>
                  <a:pt x="1249369" y="440359"/>
                </a:lnTo>
                <a:lnTo>
                  <a:pt x="1229566" y="510946"/>
                </a:lnTo>
                <a:lnTo>
                  <a:pt x="1191654" y="576692"/>
                </a:lnTo>
                <a:lnTo>
                  <a:pt x="1166459" y="607393"/>
                </a:lnTo>
                <a:lnTo>
                  <a:pt x="1137401" y="636457"/>
                </a:lnTo>
                <a:lnTo>
                  <a:pt x="1104699" y="663741"/>
                </a:lnTo>
                <a:lnTo>
                  <a:pt x="1068576" y="689101"/>
                </a:lnTo>
                <a:lnTo>
                  <a:pt x="1029251" y="712398"/>
                </a:lnTo>
                <a:lnTo>
                  <a:pt x="986947" y="733486"/>
                </a:lnTo>
                <a:lnTo>
                  <a:pt x="941884" y="752225"/>
                </a:lnTo>
                <a:lnTo>
                  <a:pt x="894282" y="768472"/>
                </a:lnTo>
                <a:lnTo>
                  <a:pt x="844364" y="782084"/>
                </a:lnTo>
                <a:lnTo>
                  <a:pt x="792351" y="792919"/>
                </a:lnTo>
                <a:lnTo>
                  <a:pt x="738462" y="800835"/>
                </a:lnTo>
                <a:lnTo>
                  <a:pt x="682920" y="805689"/>
                </a:lnTo>
                <a:lnTo>
                  <a:pt x="625944" y="807339"/>
                </a:lnTo>
                <a:lnTo>
                  <a:pt x="568972" y="805689"/>
                </a:lnTo>
                <a:lnTo>
                  <a:pt x="513432" y="800835"/>
                </a:lnTo>
                <a:lnTo>
                  <a:pt x="459545" y="792919"/>
                </a:lnTo>
                <a:lnTo>
                  <a:pt x="407534" y="782084"/>
                </a:lnTo>
                <a:lnTo>
                  <a:pt x="357619" y="768472"/>
                </a:lnTo>
                <a:lnTo>
                  <a:pt x="310021" y="752225"/>
                </a:lnTo>
                <a:lnTo>
                  <a:pt x="264960" y="733486"/>
                </a:lnTo>
                <a:lnTo>
                  <a:pt x="222658" y="712398"/>
                </a:lnTo>
                <a:lnTo>
                  <a:pt x="183337" y="689102"/>
                </a:lnTo>
                <a:lnTo>
                  <a:pt x="147216" y="663741"/>
                </a:lnTo>
                <a:lnTo>
                  <a:pt x="114517" y="636457"/>
                </a:lnTo>
                <a:lnTo>
                  <a:pt x="85461" y="607393"/>
                </a:lnTo>
                <a:lnTo>
                  <a:pt x="60268" y="576692"/>
                </a:lnTo>
                <a:lnTo>
                  <a:pt x="39161" y="544496"/>
                </a:lnTo>
                <a:lnTo>
                  <a:pt x="10085" y="476187"/>
                </a:lnTo>
                <a:lnTo>
                  <a:pt x="0" y="403606"/>
                </a:lnTo>
                <a:close/>
              </a:path>
            </a:pathLst>
          </a:custGeom>
          <a:noFill/>
          <a:ln cap="flat" cmpd="sng" w="25400">
            <a:solidFill>
              <a:srgbClr val="8063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"/>
          <p:cNvSpPr txBox="1"/>
          <p:nvPr/>
        </p:nvSpPr>
        <p:spPr>
          <a:xfrm>
            <a:off x="419564" y="327150"/>
            <a:ext cx="15894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localhost:3000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 txBox="1"/>
          <p:nvPr/>
        </p:nvSpPr>
        <p:spPr>
          <a:xfrm>
            <a:off x="5241416" y="1169034"/>
            <a:ext cx="247015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sng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Potential Challenges &amp; Risks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0"/>
          <p:cNvSpPr txBox="1"/>
          <p:nvPr>
            <p:ph idx="1" type="body"/>
          </p:nvPr>
        </p:nvSpPr>
        <p:spPr>
          <a:xfrm>
            <a:off x="5399913" y="1539621"/>
            <a:ext cx="5635500" cy="18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99085" lvl="0" marL="311150" marR="10795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US">
                <a:solidFill>
                  <a:srgbClr val="00AF50"/>
                </a:solidFill>
              </a:rPr>
              <a:t>False Attribution </a:t>
            </a:r>
            <a:r>
              <a:rPr lang="en-US"/>
              <a:t>– </a:t>
            </a:r>
            <a:r>
              <a:rPr lang="en-US"/>
              <a:t>Shared indicators or correlated sources can create misleading links.</a:t>
            </a:r>
            <a:endParaRPr/>
          </a:p>
          <a:p>
            <a:pPr indent="-299085" lvl="0" marL="311150" marR="35052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US">
                <a:solidFill>
                  <a:srgbClr val="00AF50"/>
                </a:solidFill>
              </a:rPr>
              <a:t>Evidence Poisoning</a:t>
            </a:r>
            <a:r>
              <a:rPr b="1" lang="en-US">
                <a:solidFill>
                  <a:srgbClr val="00AF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/>
              <a:t>– </a:t>
            </a:r>
            <a:r>
              <a:rPr lang="en-US"/>
              <a:t>Mirrors, planted indicators and manipulated sources can distort conclusions.</a:t>
            </a:r>
            <a:endParaRPr/>
          </a:p>
          <a:p>
            <a:pPr indent="-299085" lvl="0" marL="311150" marR="160655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US">
                <a:solidFill>
                  <a:srgbClr val="00AF50"/>
                </a:solidFill>
              </a:rPr>
              <a:t>Data Security</a:t>
            </a:r>
            <a:r>
              <a:rPr b="1" lang="en-US">
                <a:solidFill>
                  <a:srgbClr val="00AF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/>
              <a:t>– </a:t>
            </a:r>
            <a:r>
              <a:rPr lang="en-US"/>
              <a:t>Sensitive investigative data requires strict isolation and access control.</a:t>
            </a:r>
            <a:endParaRPr/>
          </a:p>
          <a:p>
            <a:pPr indent="-298450" lvl="0" marL="31115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US">
                <a:solidFill>
                  <a:srgbClr val="00AF50"/>
                </a:solidFill>
              </a:rPr>
              <a:t>Limited Ground Truth</a:t>
            </a:r>
            <a:r>
              <a:rPr b="1" lang="en-US">
                <a:solidFill>
                  <a:srgbClr val="00AF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/>
              <a:t>– </a:t>
            </a:r>
            <a:r>
              <a:rPr lang="en-US"/>
              <a:t>Real-world labelled attribution data is scarce.</a:t>
            </a:r>
            <a:endParaRPr/>
          </a:p>
          <a:p>
            <a:pPr indent="-298449" lvl="0" marL="31115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US">
                <a:solidFill>
                  <a:srgbClr val="00AF50"/>
                </a:solidFill>
              </a:rPr>
              <a:t>Scalability </a:t>
            </a:r>
            <a:r>
              <a:rPr lang="en-US"/>
              <a:t>– </a:t>
            </a:r>
            <a:r>
              <a:rPr lang="en-US"/>
              <a:t>Larger datasets may require migration to distributed infrastructure.</a:t>
            </a:r>
            <a:endParaRPr/>
          </a:p>
        </p:txBody>
      </p:sp>
      <p:sp>
        <p:nvSpPr>
          <p:cNvPr id="161" name="Google Shape;161;p10"/>
          <p:cNvSpPr txBox="1"/>
          <p:nvPr/>
        </p:nvSpPr>
        <p:spPr>
          <a:xfrm>
            <a:off x="314045" y="1163827"/>
            <a:ext cx="925194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sng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Use Cases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2" name="Google Shape;162;p10"/>
          <p:cNvGrpSpPr/>
          <p:nvPr/>
        </p:nvGrpSpPr>
        <p:grpSpPr>
          <a:xfrm>
            <a:off x="419582" y="1610360"/>
            <a:ext cx="4368800" cy="2227071"/>
            <a:chOff x="419582" y="1610360"/>
            <a:chExt cx="4368800" cy="2227071"/>
          </a:xfrm>
        </p:grpSpPr>
        <p:sp>
          <p:nvSpPr>
            <p:cNvPr id="163" name="Google Shape;163;p10"/>
            <p:cNvSpPr/>
            <p:nvPr/>
          </p:nvSpPr>
          <p:spPr>
            <a:xfrm>
              <a:off x="419582" y="1610360"/>
              <a:ext cx="4368800" cy="967740"/>
            </a:xfrm>
            <a:custGeom>
              <a:rect b="b" l="l" r="r" t="t"/>
              <a:pathLst>
                <a:path extrusionOk="0" h="967739" w="4368800">
                  <a:moveTo>
                    <a:pt x="4271416" y="0"/>
                  </a:moveTo>
                  <a:lnTo>
                    <a:pt x="96748" y="0"/>
                  </a:lnTo>
                  <a:lnTo>
                    <a:pt x="59091" y="7602"/>
                  </a:lnTo>
                  <a:lnTo>
                    <a:pt x="28338" y="28336"/>
                  </a:lnTo>
                  <a:lnTo>
                    <a:pt x="7603" y="59096"/>
                  </a:lnTo>
                  <a:lnTo>
                    <a:pt x="0" y="96774"/>
                  </a:lnTo>
                  <a:lnTo>
                    <a:pt x="0" y="870712"/>
                  </a:lnTo>
                  <a:lnTo>
                    <a:pt x="7603" y="908389"/>
                  </a:lnTo>
                  <a:lnTo>
                    <a:pt x="28338" y="939149"/>
                  </a:lnTo>
                  <a:lnTo>
                    <a:pt x="59091" y="959883"/>
                  </a:lnTo>
                  <a:lnTo>
                    <a:pt x="96748" y="967486"/>
                  </a:lnTo>
                  <a:lnTo>
                    <a:pt x="4271416" y="967486"/>
                  </a:lnTo>
                  <a:lnTo>
                    <a:pt x="4309093" y="959883"/>
                  </a:lnTo>
                  <a:lnTo>
                    <a:pt x="4339853" y="939149"/>
                  </a:lnTo>
                  <a:lnTo>
                    <a:pt x="4360588" y="908389"/>
                  </a:lnTo>
                  <a:lnTo>
                    <a:pt x="4368190" y="870712"/>
                  </a:lnTo>
                  <a:lnTo>
                    <a:pt x="4368190" y="96774"/>
                  </a:lnTo>
                  <a:lnTo>
                    <a:pt x="4360588" y="59096"/>
                  </a:lnTo>
                  <a:lnTo>
                    <a:pt x="4339853" y="28336"/>
                  </a:lnTo>
                  <a:lnTo>
                    <a:pt x="4309093" y="7602"/>
                  </a:lnTo>
                  <a:lnTo>
                    <a:pt x="4271416" y="0"/>
                  </a:lnTo>
                  <a:close/>
                </a:path>
              </a:pathLst>
            </a:custGeom>
            <a:solidFill>
              <a:srgbClr val="D0D7E8">
                <a:alpha val="9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0"/>
            <p:cNvSpPr/>
            <p:nvPr/>
          </p:nvSpPr>
          <p:spPr>
            <a:xfrm>
              <a:off x="419582" y="1610360"/>
              <a:ext cx="4368800" cy="967740"/>
            </a:xfrm>
            <a:custGeom>
              <a:rect b="b" l="l" r="r" t="t"/>
              <a:pathLst>
                <a:path extrusionOk="0" h="967739" w="4368800">
                  <a:moveTo>
                    <a:pt x="0" y="96774"/>
                  </a:moveTo>
                  <a:lnTo>
                    <a:pt x="7603" y="59096"/>
                  </a:lnTo>
                  <a:lnTo>
                    <a:pt x="28338" y="28336"/>
                  </a:lnTo>
                  <a:lnTo>
                    <a:pt x="59091" y="7602"/>
                  </a:lnTo>
                  <a:lnTo>
                    <a:pt x="96748" y="0"/>
                  </a:lnTo>
                  <a:lnTo>
                    <a:pt x="4271416" y="0"/>
                  </a:lnTo>
                  <a:lnTo>
                    <a:pt x="4309093" y="7602"/>
                  </a:lnTo>
                  <a:lnTo>
                    <a:pt x="4339853" y="28336"/>
                  </a:lnTo>
                  <a:lnTo>
                    <a:pt x="4360588" y="59096"/>
                  </a:lnTo>
                  <a:lnTo>
                    <a:pt x="4368190" y="96774"/>
                  </a:lnTo>
                  <a:lnTo>
                    <a:pt x="4368190" y="870712"/>
                  </a:lnTo>
                  <a:lnTo>
                    <a:pt x="4360588" y="908389"/>
                  </a:lnTo>
                  <a:lnTo>
                    <a:pt x="4339853" y="939149"/>
                  </a:lnTo>
                  <a:lnTo>
                    <a:pt x="4309093" y="959883"/>
                  </a:lnTo>
                  <a:lnTo>
                    <a:pt x="4271416" y="967486"/>
                  </a:lnTo>
                  <a:lnTo>
                    <a:pt x="96748" y="967486"/>
                  </a:lnTo>
                  <a:lnTo>
                    <a:pt x="59091" y="959883"/>
                  </a:lnTo>
                  <a:lnTo>
                    <a:pt x="28338" y="939149"/>
                  </a:lnTo>
                  <a:lnTo>
                    <a:pt x="7603" y="908389"/>
                  </a:lnTo>
                  <a:lnTo>
                    <a:pt x="0" y="870712"/>
                  </a:lnTo>
                  <a:lnTo>
                    <a:pt x="0" y="96774"/>
                  </a:lnTo>
                  <a:close/>
                </a:path>
              </a:pathLst>
            </a:custGeom>
            <a:noFill/>
            <a:ln cap="flat" cmpd="sng" w="25400">
              <a:solidFill>
                <a:srgbClr val="D0D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5" name="Google Shape;16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90727" y="1697736"/>
              <a:ext cx="1072908" cy="8275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51827" y="1739392"/>
              <a:ext cx="954392" cy="7094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" name="Google Shape;167;p10"/>
            <p:cNvSpPr/>
            <p:nvPr/>
          </p:nvSpPr>
          <p:spPr>
            <a:xfrm>
              <a:off x="551827" y="1739392"/>
              <a:ext cx="954405" cy="709930"/>
            </a:xfrm>
            <a:custGeom>
              <a:rect b="b" l="l" r="r" t="t"/>
              <a:pathLst>
                <a:path extrusionOk="0" h="709930" w="954405">
                  <a:moveTo>
                    <a:pt x="0" y="70866"/>
                  </a:moveTo>
                  <a:lnTo>
                    <a:pt x="5577" y="43291"/>
                  </a:lnTo>
                  <a:lnTo>
                    <a:pt x="20785" y="20764"/>
                  </a:lnTo>
                  <a:lnTo>
                    <a:pt x="43339" y="5572"/>
                  </a:lnTo>
                  <a:lnTo>
                    <a:pt x="70954" y="0"/>
                  </a:lnTo>
                  <a:lnTo>
                    <a:pt x="883399" y="0"/>
                  </a:lnTo>
                  <a:lnTo>
                    <a:pt x="911047" y="5572"/>
                  </a:lnTo>
                  <a:lnTo>
                    <a:pt x="933611" y="20764"/>
                  </a:lnTo>
                  <a:lnTo>
                    <a:pt x="948818" y="43291"/>
                  </a:lnTo>
                  <a:lnTo>
                    <a:pt x="954392" y="70866"/>
                  </a:lnTo>
                  <a:lnTo>
                    <a:pt x="954392" y="638556"/>
                  </a:lnTo>
                  <a:lnTo>
                    <a:pt x="948818" y="666130"/>
                  </a:lnTo>
                  <a:lnTo>
                    <a:pt x="933611" y="688657"/>
                  </a:lnTo>
                  <a:lnTo>
                    <a:pt x="911047" y="703849"/>
                  </a:lnTo>
                  <a:lnTo>
                    <a:pt x="883399" y="709422"/>
                  </a:lnTo>
                  <a:lnTo>
                    <a:pt x="70954" y="709422"/>
                  </a:lnTo>
                  <a:lnTo>
                    <a:pt x="43339" y="703849"/>
                  </a:lnTo>
                  <a:lnTo>
                    <a:pt x="20785" y="688657"/>
                  </a:lnTo>
                  <a:lnTo>
                    <a:pt x="5577" y="666130"/>
                  </a:lnTo>
                  <a:lnTo>
                    <a:pt x="0" y="638556"/>
                  </a:lnTo>
                  <a:lnTo>
                    <a:pt x="0" y="70866"/>
                  </a:lnTo>
                  <a:close/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8" name="Google Shape;168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90727" y="2535936"/>
              <a:ext cx="1072908" cy="13014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57783" y="2575572"/>
              <a:ext cx="975347" cy="9936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" name="Google Shape;170;p10"/>
            <p:cNvSpPr/>
            <p:nvPr/>
          </p:nvSpPr>
          <p:spPr>
            <a:xfrm>
              <a:off x="551827" y="2577846"/>
              <a:ext cx="954405" cy="1183005"/>
            </a:xfrm>
            <a:custGeom>
              <a:rect b="b" l="l" r="r" t="t"/>
              <a:pathLst>
                <a:path extrusionOk="0" h="1183004" w="954405">
                  <a:moveTo>
                    <a:pt x="954392" y="0"/>
                  </a:moveTo>
                  <a:lnTo>
                    <a:pt x="0" y="0"/>
                  </a:lnTo>
                  <a:lnTo>
                    <a:pt x="0" y="1082293"/>
                  </a:lnTo>
                  <a:lnTo>
                    <a:pt x="7875" y="1121310"/>
                  </a:lnTo>
                  <a:lnTo>
                    <a:pt x="29352" y="1153159"/>
                  </a:lnTo>
                  <a:lnTo>
                    <a:pt x="61207" y="1174626"/>
                  </a:lnTo>
                  <a:lnTo>
                    <a:pt x="100215" y="1182496"/>
                  </a:lnTo>
                  <a:lnTo>
                    <a:pt x="854189" y="1182496"/>
                  </a:lnTo>
                  <a:lnTo>
                    <a:pt x="893152" y="1174626"/>
                  </a:lnTo>
                  <a:lnTo>
                    <a:pt x="925007" y="1153159"/>
                  </a:lnTo>
                  <a:lnTo>
                    <a:pt x="946504" y="1121310"/>
                  </a:lnTo>
                  <a:lnTo>
                    <a:pt x="954392" y="1082293"/>
                  </a:lnTo>
                  <a:lnTo>
                    <a:pt x="954392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0"/>
            <p:cNvSpPr/>
            <p:nvPr/>
          </p:nvSpPr>
          <p:spPr>
            <a:xfrm>
              <a:off x="551827" y="2577846"/>
              <a:ext cx="954405" cy="1183005"/>
            </a:xfrm>
            <a:custGeom>
              <a:rect b="b" l="l" r="r" t="t"/>
              <a:pathLst>
                <a:path extrusionOk="0" h="1183004" w="954405">
                  <a:moveTo>
                    <a:pt x="854189" y="1182496"/>
                  </a:moveTo>
                  <a:lnTo>
                    <a:pt x="100215" y="1182496"/>
                  </a:lnTo>
                  <a:lnTo>
                    <a:pt x="61207" y="1174626"/>
                  </a:lnTo>
                  <a:lnTo>
                    <a:pt x="29352" y="1153159"/>
                  </a:lnTo>
                  <a:lnTo>
                    <a:pt x="7875" y="1121310"/>
                  </a:lnTo>
                  <a:lnTo>
                    <a:pt x="0" y="1082293"/>
                  </a:lnTo>
                  <a:lnTo>
                    <a:pt x="0" y="0"/>
                  </a:lnTo>
                  <a:lnTo>
                    <a:pt x="954392" y="0"/>
                  </a:lnTo>
                  <a:lnTo>
                    <a:pt x="954392" y="1082293"/>
                  </a:lnTo>
                  <a:lnTo>
                    <a:pt x="946504" y="1121310"/>
                  </a:lnTo>
                  <a:lnTo>
                    <a:pt x="925007" y="1153159"/>
                  </a:lnTo>
                  <a:lnTo>
                    <a:pt x="893152" y="1174626"/>
                  </a:lnTo>
                  <a:lnTo>
                    <a:pt x="854189" y="1182496"/>
                  </a:lnTo>
                  <a:close/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2" name="Google Shape;172;p10"/>
          <p:cNvSpPr txBox="1"/>
          <p:nvPr/>
        </p:nvSpPr>
        <p:spPr>
          <a:xfrm>
            <a:off x="649083" y="2800339"/>
            <a:ext cx="7398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000">
            <a:spAutoFit/>
          </a:bodyPr>
          <a:lstStyle/>
          <a:p>
            <a:pPr indent="-3175" lvl="0" marL="12700" marR="5080" rtl="0" algn="ctr">
              <a:lnSpc>
                <a:spcPct val="86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</a:rPr>
              <a:t>Link multiple dark-web personas</a:t>
            </a:r>
            <a:endParaRPr b="1" sz="1000">
              <a:solidFill>
                <a:srgbClr val="FFFFFF"/>
              </a:solidFill>
            </a:endParaRPr>
          </a:p>
        </p:txBody>
      </p:sp>
      <p:grpSp>
        <p:nvGrpSpPr>
          <p:cNvPr id="173" name="Google Shape;173;p10"/>
          <p:cNvGrpSpPr/>
          <p:nvPr/>
        </p:nvGrpSpPr>
        <p:grpSpPr>
          <a:xfrm>
            <a:off x="1539239" y="1697735"/>
            <a:ext cx="1074420" cy="2139695"/>
            <a:chOff x="1539239" y="1697735"/>
            <a:chExt cx="1074420" cy="2139695"/>
          </a:xfrm>
        </p:grpSpPr>
        <p:pic>
          <p:nvPicPr>
            <p:cNvPr id="174" name="Google Shape;174;p1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539239" y="1697735"/>
              <a:ext cx="1074420" cy="8275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1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601596" y="1739391"/>
              <a:ext cx="954404" cy="7094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" name="Google Shape;176;p10"/>
            <p:cNvSpPr/>
            <p:nvPr/>
          </p:nvSpPr>
          <p:spPr>
            <a:xfrm>
              <a:off x="1601596" y="1739391"/>
              <a:ext cx="954405" cy="709930"/>
            </a:xfrm>
            <a:custGeom>
              <a:rect b="b" l="l" r="r" t="t"/>
              <a:pathLst>
                <a:path extrusionOk="0" h="709930" w="954405">
                  <a:moveTo>
                    <a:pt x="0" y="70866"/>
                  </a:moveTo>
                  <a:lnTo>
                    <a:pt x="5574" y="43291"/>
                  </a:lnTo>
                  <a:lnTo>
                    <a:pt x="20780" y="20764"/>
                  </a:lnTo>
                  <a:lnTo>
                    <a:pt x="43344" y="5572"/>
                  </a:lnTo>
                  <a:lnTo>
                    <a:pt x="70992" y="0"/>
                  </a:lnTo>
                  <a:lnTo>
                    <a:pt x="883411" y="0"/>
                  </a:lnTo>
                  <a:lnTo>
                    <a:pt x="911006" y="5572"/>
                  </a:lnTo>
                  <a:lnTo>
                    <a:pt x="933576" y="20764"/>
                  </a:lnTo>
                  <a:lnTo>
                    <a:pt x="948813" y="43291"/>
                  </a:lnTo>
                  <a:lnTo>
                    <a:pt x="954404" y="70866"/>
                  </a:lnTo>
                  <a:lnTo>
                    <a:pt x="954404" y="638556"/>
                  </a:lnTo>
                  <a:lnTo>
                    <a:pt x="948813" y="666130"/>
                  </a:lnTo>
                  <a:lnTo>
                    <a:pt x="933576" y="688657"/>
                  </a:lnTo>
                  <a:lnTo>
                    <a:pt x="911006" y="703849"/>
                  </a:lnTo>
                  <a:lnTo>
                    <a:pt x="883411" y="709422"/>
                  </a:lnTo>
                  <a:lnTo>
                    <a:pt x="70992" y="709422"/>
                  </a:lnTo>
                  <a:lnTo>
                    <a:pt x="43344" y="703849"/>
                  </a:lnTo>
                  <a:lnTo>
                    <a:pt x="20780" y="688657"/>
                  </a:lnTo>
                  <a:lnTo>
                    <a:pt x="5574" y="666130"/>
                  </a:lnTo>
                  <a:lnTo>
                    <a:pt x="0" y="638556"/>
                  </a:lnTo>
                  <a:lnTo>
                    <a:pt x="0" y="70866"/>
                  </a:lnTo>
                  <a:close/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7" name="Google Shape;177;p1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539239" y="2535935"/>
              <a:ext cx="1074420" cy="13014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1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612391" y="2575572"/>
              <a:ext cx="967727" cy="9936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" name="Google Shape;179;p10"/>
            <p:cNvSpPr/>
            <p:nvPr/>
          </p:nvSpPr>
          <p:spPr>
            <a:xfrm>
              <a:off x="1601596" y="2577845"/>
              <a:ext cx="954405" cy="1183005"/>
            </a:xfrm>
            <a:custGeom>
              <a:rect b="b" l="l" r="r" t="t"/>
              <a:pathLst>
                <a:path extrusionOk="0" h="1183004" w="954405">
                  <a:moveTo>
                    <a:pt x="954404" y="0"/>
                  </a:moveTo>
                  <a:lnTo>
                    <a:pt x="0" y="0"/>
                  </a:lnTo>
                  <a:lnTo>
                    <a:pt x="0" y="1082293"/>
                  </a:lnTo>
                  <a:lnTo>
                    <a:pt x="7870" y="1121310"/>
                  </a:lnTo>
                  <a:lnTo>
                    <a:pt x="29336" y="1153159"/>
                  </a:lnTo>
                  <a:lnTo>
                    <a:pt x="61186" y="1174626"/>
                  </a:lnTo>
                  <a:lnTo>
                    <a:pt x="100203" y="1182496"/>
                  </a:lnTo>
                  <a:lnTo>
                    <a:pt x="854202" y="1182496"/>
                  </a:lnTo>
                  <a:lnTo>
                    <a:pt x="893165" y="1174626"/>
                  </a:lnTo>
                  <a:lnTo>
                    <a:pt x="925020" y="1153159"/>
                  </a:lnTo>
                  <a:lnTo>
                    <a:pt x="946517" y="1121310"/>
                  </a:lnTo>
                  <a:lnTo>
                    <a:pt x="954404" y="1082293"/>
                  </a:lnTo>
                  <a:lnTo>
                    <a:pt x="954404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0"/>
            <p:cNvSpPr/>
            <p:nvPr/>
          </p:nvSpPr>
          <p:spPr>
            <a:xfrm>
              <a:off x="1601596" y="2577845"/>
              <a:ext cx="954405" cy="1183005"/>
            </a:xfrm>
            <a:custGeom>
              <a:rect b="b" l="l" r="r" t="t"/>
              <a:pathLst>
                <a:path extrusionOk="0" h="1183004" w="954405">
                  <a:moveTo>
                    <a:pt x="854202" y="1182496"/>
                  </a:moveTo>
                  <a:lnTo>
                    <a:pt x="100203" y="1182496"/>
                  </a:lnTo>
                  <a:lnTo>
                    <a:pt x="61186" y="1174626"/>
                  </a:lnTo>
                  <a:lnTo>
                    <a:pt x="29336" y="1153159"/>
                  </a:lnTo>
                  <a:lnTo>
                    <a:pt x="7870" y="1121310"/>
                  </a:lnTo>
                  <a:lnTo>
                    <a:pt x="0" y="1082293"/>
                  </a:lnTo>
                  <a:lnTo>
                    <a:pt x="0" y="0"/>
                  </a:lnTo>
                  <a:lnTo>
                    <a:pt x="954404" y="0"/>
                  </a:lnTo>
                  <a:lnTo>
                    <a:pt x="954404" y="1082293"/>
                  </a:lnTo>
                  <a:lnTo>
                    <a:pt x="946517" y="1121310"/>
                  </a:lnTo>
                  <a:lnTo>
                    <a:pt x="925020" y="1153159"/>
                  </a:lnTo>
                  <a:lnTo>
                    <a:pt x="893165" y="1174626"/>
                  </a:lnTo>
                  <a:lnTo>
                    <a:pt x="854202" y="1182496"/>
                  </a:lnTo>
                  <a:close/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1" name="Google Shape;181;p10"/>
          <p:cNvSpPr txBox="1"/>
          <p:nvPr/>
        </p:nvSpPr>
        <p:spPr>
          <a:xfrm>
            <a:off x="1713891" y="2810239"/>
            <a:ext cx="725100" cy="6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000">
            <a:spAutoFit/>
          </a:bodyPr>
          <a:lstStyle/>
          <a:p>
            <a:pPr indent="0" lvl="0" marL="12700" marR="5080" rtl="0" algn="ctr">
              <a:lnSpc>
                <a:spcPct val="86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</a:rPr>
              <a:t>Build actor profiles and track activity over time.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2" name="Google Shape;182;p10"/>
          <p:cNvGrpSpPr/>
          <p:nvPr/>
        </p:nvGrpSpPr>
        <p:grpSpPr>
          <a:xfrm>
            <a:off x="2589276" y="1697735"/>
            <a:ext cx="1072896" cy="2139695"/>
            <a:chOff x="2589276" y="1697735"/>
            <a:chExt cx="1072896" cy="2139695"/>
          </a:xfrm>
        </p:grpSpPr>
        <p:pic>
          <p:nvPicPr>
            <p:cNvPr id="183" name="Google Shape;183;p1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589276" y="1697735"/>
              <a:ext cx="1072896" cy="8275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10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2651379" y="1739391"/>
              <a:ext cx="954405" cy="7094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10"/>
            <p:cNvSpPr/>
            <p:nvPr/>
          </p:nvSpPr>
          <p:spPr>
            <a:xfrm>
              <a:off x="2651379" y="1739391"/>
              <a:ext cx="954405" cy="709930"/>
            </a:xfrm>
            <a:custGeom>
              <a:rect b="b" l="l" r="r" t="t"/>
              <a:pathLst>
                <a:path extrusionOk="0" h="709930" w="954404">
                  <a:moveTo>
                    <a:pt x="0" y="70866"/>
                  </a:moveTo>
                  <a:lnTo>
                    <a:pt x="5574" y="43291"/>
                  </a:lnTo>
                  <a:lnTo>
                    <a:pt x="20780" y="20764"/>
                  </a:lnTo>
                  <a:lnTo>
                    <a:pt x="43344" y="5572"/>
                  </a:lnTo>
                  <a:lnTo>
                    <a:pt x="70993" y="0"/>
                  </a:lnTo>
                  <a:lnTo>
                    <a:pt x="883411" y="0"/>
                  </a:lnTo>
                  <a:lnTo>
                    <a:pt x="911006" y="5572"/>
                  </a:lnTo>
                  <a:lnTo>
                    <a:pt x="933577" y="20764"/>
                  </a:lnTo>
                  <a:lnTo>
                    <a:pt x="948813" y="43291"/>
                  </a:lnTo>
                  <a:lnTo>
                    <a:pt x="954405" y="70866"/>
                  </a:lnTo>
                  <a:lnTo>
                    <a:pt x="954405" y="638556"/>
                  </a:lnTo>
                  <a:lnTo>
                    <a:pt x="948813" y="666130"/>
                  </a:lnTo>
                  <a:lnTo>
                    <a:pt x="933577" y="688657"/>
                  </a:lnTo>
                  <a:lnTo>
                    <a:pt x="911006" y="703849"/>
                  </a:lnTo>
                  <a:lnTo>
                    <a:pt x="883411" y="709422"/>
                  </a:lnTo>
                  <a:lnTo>
                    <a:pt x="70993" y="709422"/>
                  </a:lnTo>
                  <a:lnTo>
                    <a:pt x="43344" y="703849"/>
                  </a:lnTo>
                  <a:lnTo>
                    <a:pt x="20780" y="688657"/>
                  </a:lnTo>
                  <a:lnTo>
                    <a:pt x="5574" y="666130"/>
                  </a:lnTo>
                  <a:lnTo>
                    <a:pt x="0" y="638556"/>
                  </a:lnTo>
                  <a:lnTo>
                    <a:pt x="0" y="70866"/>
                  </a:lnTo>
                  <a:close/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86" name="Google Shape;186;p10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589276" y="2535935"/>
              <a:ext cx="1072896" cy="13014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10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2660904" y="2575547"/>
              <a:ext cx="929627" cy="8625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" name="Google Shape;188;p10"/>
            <p:cNvSpPr/>
            <p:nvPr/>
          </p:nvSpPr>
          <p:spPr>
            <a:xfrm>
              <a:off x="2651379" y="2577845"/>
              <a:ext cx="954405" cy="1183005"/>
            </a:xfrm>
            <a:custGeom>
              <a:rect b="b" l="l" r="r" t="t"/>
              <a:pathLst>
                <a:path extrusionOk="0" h="1183004" w="954404">
                  <a:moveTo>
                    <a:pt x="954405" y="0"/>
                  </a:moveTo>
                  <a:lnTo>
                    <a:pt x="0" y="0"/>
                  </a:lnTo>
                  <a:lnTo>
                    <a:pt x="0" y="1082293"/>
                  </a:lnTo>
                  <a:lnTo>
                    <a:pt x="7870" y="1121310"/>
                  </a:lnTo>
                  <a:lnTo>
                    <a:pt x="29337" y="1153159"/>
                  </a:lnTo>
                  <a:lnTo>
                    <a:pt x="61186" y="1174626"/>
                  </a:lnTo>
                  <a:lnTo>
                    <a:pt x="100202" y="1182496"/>
                  </a:lnTo>
                  <a:lnTo>
                    <a:pt x="854201" y="1182496"/>
                  </a:lnTo>
                  <a:lnTo>
                    <a:pt x="893165" y="1174626"/>
                  </a:lnTo>
                  <a:lnTo>
                    <a:pt x="925020" y="1153159"/>
                  </a:lnTo>
                  <a:lnTo>
                    <a:pt x="946517" y="1121310"/>
                  </a:lnTo>
                  <a:lnTo>
                    <a:pt x="954405" y="1082293"/>
                  </a:lnTo>
                  <a:lnTo>
                    <a:pt x="954405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0"/>
            <p:cNvSpPr/>
            <p:nvPr/>
          </p:nvSpPr>
          <p:spPr>
            <a:xfrm>
              <a:off x="2651379" y="2577845"/>
              <a:ext cx="954405" cy="1183005"/>
            </a:xfrm>
            <a:custGeom>
              <a:rect b="b" l="l" r="r" t="t"/>
              <a:pathLst>
                <a:path extrusionOk="0" h="1183004" w="954404">
                  <a:moveTo>
                    <a:pt x="854201" y="1182496"/>
                  </a:moveTo>
                  <a:lnTo>
                    <a:pt x="100202" y="1182496"/>
                  </a:lnTo>
                  <a:lnTo>
                    <a:pt x="61186" y="1174626"/>
                  </a:lnTo>
                  <a:lnTo>
                    <a:pt x="29337" y="1153159"/>
                  </a:lnTo>
                  <a:lnTo>
                    <a:pt x="7870" y="1121310"/>
                  </a:lnTo>
                  <a:lnTo>
                    <a:pt x="0" y="1082293"/>
                  </a:lnTo>
                  <a:lnTo>
                    <a:pt x="0" y="0"/>
                  </a:lnTo>
                  <a:lnTo>
                    <a:pt x="954405" y="0"/>
                  </a:lnTo>
                  <a:lnTo>
                    <a:pt x="954405" y="1082293"/>
                  </a:lnTo>
                  <a:lnTo>
                    <a:pt x="946517" y="1121310"/>
                  </a:lnTo>
                  <a:lnTo>
                    <a:pt x="925020" y="1153159"/>
                  </a:lnTo>
                  <a:lnTo>
                    <a:pt x="893165" y="1174626"/>
                  </a:lnTo>
                  <a:lnTo>
                    <a:pt x="854201" y="1182496"/>
                  </a:lnTo>
                  <a:close/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0" name="Google Shape;190;p10"/>
          <p:cNvSpPr txBox="1"/>
          <p:nvPr/>
        </p:nvSpPr>
        <p:spPr>
          <a:xfrm>
            <a:off x="2686075" y="2724775"/>
            <a:ext cx="880800" cy="8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000">
            <a:spAutoFit/>
          </a:bodyPr>
          <a:lstStyle/>
          <a:p>
            <a:pPr indent="0" lvl="0" marL="12700" marR="5080" rtl="0" algn="ctr">
              <a:lnSpc>
                <a:spcPct val="86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</a:rPr>
              <a:t>Validate evidence, contradictions and alternative explanations.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1" name="Google Shape;191;p10"/>
          <p:cNvGrpSpPr/>
          <p:nvPr/>
        </p:nvGrpSpPr>
        <p:grpSpPr>
          <a:xfrm>
            <a:off x="3639311" y="1697735"/>
            <a:ext cx="1072908" cy="2139695"/>
            <a:chOff x="3639311" y="1697735"/>
            <a:chExt cx="1072908" cy="2139695"/>
          </a:xfrm>
        </p:grpSpPr>
        <p:pic>
          <p:nvPicPr>
            <p:cNvPr id="192" name="Google Shape;192;p10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3639311" y="1697735"/>
              <a:ext cx="1072908" cy="8275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" name="Google Shape;193;p10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3701160" y="1739391"/>
              <a:ext cx="954404" cy="7094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" name="Google Shape;194;p10"/>
            <p:cNvSpPr/>
            <p:nvPr/>
          </p:nvSpPr>
          <p:spPr>
            <a:xfrm>
              <a:off x="3701160" y="1739391"/>
              <a:ext cx="954405" cy="709930"/>
            </a:xfrm>
            <a:custGeom>
              <a:rect b="b" l="l" r="r" t="t"/>
              <a:pathLst>
                <a:path extrusionOk="0" h="709930" w="954404">
                  <a:moveTo>
                    <a:pt x="0" y="70866"/>
                  </a:moveTo>
                  <a:lnTo>
                    <a:pt x="5574" y="43291"/>
                  </a:lnTo>
                  <a:lnTo>
                    <a:pt x="20780" y="20764"/>
                  </a:lnTo>
                  <a:lnTo>
                    <a:pt x="43344" y="5572"/>
                  </a:lnTo>
                  <a:lnTo>
                    <a:pt x="70992" y="0"/>
                  </a:lnTo>
                  <a:lnTo>
                    <a:pt x="883412" y="0"/>
                  </a:lnTo>
                  <a:lnTo>
                    <a:pt x="911006" y="5572"/>
                  </a:lnTo>
                  <a:lnTo>
                    <a:pt x="933576" y="20764"/>
                  </a:lnTo>
                  <a:lnTo>
                    <a:pt x="948813" y="43291"/>
                  </a:lnTo>
                  <a:lnTo>
                    <a:pt x="954404" y="70866"/>
                  </a:lnTo>
                  <a:lnTo>
                    <a:pt x="954404" y="638556"/>
                  </a:lnTo>
                  <a:lnTo>
                    <a:pt x="948813" y="666130"/>
                  </a:lnTo>
                  <a:lnTo>
                    <a:pt x="933576" y="688657"/>
                  </a:lnTo>
                  <a:lnTo>
                    <a:pt x="911006" y="703849"/>
                  </a:lnTo>
                  <a:lnTo>
                    <a:pt x="883412" y="709422"/>
                  </a:lnTo>
                  <a:lnTo>
                    <a:pt x="70992" y="709422"/>
                  </a:lnTo>
                  <a:lnTo>
                    <a:pt x="43344" y="703849"/>
                  </a:lnTo>
                  <a:lnTo>
                    <a:pt x="20780" y="688657"/>
                  </a:lnTo>
                  <a:lnTo>
                    <a:pt x="5574" y="666130"/>
                  </a:lnTo>
                  <a:lnTo>
                    <a:pt x="0" y="638556"/>
                  </a:lnTo>
                  <a:lnTo>
                    <a:pt x="0" y="70866"/>
                  </a:lnTo>
                  <a:close/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5" name="Google Shape;195;p10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3639311" y="2535935"/>
              <a:ext cx="1072908" cy="13014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1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3718559" y="2575547"/>
              <a:ext cx="954036" cy="8625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" name="Google Shape;197;p10"/>
            <p:cNvSpPr/>
            <p:nvPr/>
          </p:nvSpPr>
          <p:spPr>
            <a:xfrm>
              <a:off x="3701160" y="2577845"/>
              <a:ext cx="954405" cy="1183005"/>
            </a:xfrm>
            <a:custGeom>
              <a:rect b="b" l="l" r="r" t="t"/>
              <a:pathLst>
                <a:path extrusionOk="0" h="1183004" w="954404">
                  <a:moveTo>
                    <a:pt x="954404" y="0"/>
                  </a:moveTo>
                  <a:lnTo>
                    <a:pt x="0" y="0"/>
                  </a:lnTo>
                  <a:lnTo>
                    <a:pt x="0" y="1082293"/>
                  </a:lnTo>
                  <a:lnTo>
                    <a:pt x="7870" y="1121310"/>
                  </a:lnTo>
                  <a:lnTo>
                    <a:pt x="29337" y="1153159"/>
                  </a:lnTo>
                  <a:lnTo>
                    <a:pt x="61186" y="1174626"/>
                  </a:lnTo>
                  <a:lnTo>
                    <a:pt x="100202" y="1182496"/>
                  </a:lnTo>
                  <a:lnTo>
                    <a:pt x="854201" y="1182496"/>
                  </a:lnTo>
                  <a:lnTo>
                    <a:pt x="893165" y="1174626"/>
                  </a:lnTo>
                  <a:lnTo>
                    <a:pt x="925020" y="1153159"/>
                  </a:lnTo>
                  <a:lnTo>
                    <a:pt x="946517" y="1121310"/>
                  </a:lnTo>
                  <a:lnTo>
                    <a:pt x="954404" y="1082293"/>
                  </a:lnTo>
                  <a:lnTo>
                    <a:pt x="954404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0"/>
            <p:cNvSpPr/>
            <p:nvPr/>
          </p:nvSpPr>
          <p:spPr>
            <a:xfrm>
              <a:off x="3701160" y="2577845"/>
              <a:ext cx="954405" cy="1183005"/>
            </a:xfrm>
            <a:custGeom>
              <a:rect b="b" l="l" r="r" t="t"/>
              <a:pathLst>
                <a:path extrusionOk="0" h="1183004" w="954404">
                  <a:moveTo>
                    <a:pt x="854201" y="1182496"/>
                  </a:moveTo>
                  <a:lnTo>
                    <a:pt x="100202" y="1182496"/>
                  </a:lnTo>
                  <a:lnTo>
                    <a:pt x="61186" y="1174626"/>
                  </a:lnTo>
                  <a:lnTo>
                    <a:pt x="29337" y="1153159"/>
                  </a:lnTo>
                  <a:lnTo>
                    <a:pt x="7870" y="1121310"/>
                  </a:lnTo>
                  <a:lnTo>
                    <a:pt x="0" y="1082293"/>
                  </a:lnTo>
                  <a:lnTo>
                    <a:pt x="0" y="0"/>
                  </a:lnTo>
                  <a:lnTo>
                    <a:pt x="954404" y="0"/>
                  </a:lnTo>
                  <a:lnTo>
                    <a:pt x="954404" y="1082293"/>
                  </a:lnTo>
                  <a:lnTo>
                    <a:pt x="946517" y="1121310"/>
                  </a:lnTo>
                  <a:lnTo>
                    <a:pt x="925020" y="1153159"/>
                  </a:lnTo>
                  <a:lnTo>
                    <a:pt x="893165" y="1174626"/>
                  </a:lnTo>
                  <a:lnTo>
                    <a:pt x="854201" y="1182496"/>
                  </a:lnTo>
                  <a:close/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9" name="Google Shape;199;p10"/>
          <p:cNvSpPr txBox="1"/>
          <p:nvPr/>
        </p:nvSpPr>
        <p:spPr>
          <a:xfrm>
            <a:off x="3812450" y="2748050"/>
            <a:ext cx="739800" cy="6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000">
            <a:spAutoFit/>
          </a:bodyPr>
          <a:lstStyle/>
          <a:p>
            <a:pPr indent="-1905" lvl="0" marL="12700" marR="5080" rtl="0" algn="ctr">
              <a:lnSpc>
                <a:spcPct val="86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</a:rPr>
              <a:t>Generate structured, auditable intelligence reports.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235267" y="4284853"/>
            <a:ext cx="4856480" cy="0"/>
          </a:xfrm>
          <a:custGeom>
            <a:rect b="b" l="l" r="r" t="t"/>
            <a:pathLst>
              <a:path extrusionOk="0" h="120000" w="4856480">
                <a:moveTo>
                  <a:pt x="0" y="0"/>
                </a:moveTo>
                <a:lnTo>
                  <a:pt x="4856416" y="0"/>
                </a:lnTo>
              </a:path>
            </a:pathLst>
          </a:custGeom>
          <a:noFill/>
          <a:ln cap="flat" cmpd="sng" w="25400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"/>
          <p:cNvSpPr txBox="1"/>
          <p:nvPr/>
        </p:nvSpPr>
        <p:spPr>
          <a:xfrm>
            <a:off x="275945" y="4294377"/>
            <a:ext cx="88836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sng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Strategies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0"/>
          <p:cNvSpPr txBox="1"/>
          <p:nvPr/>
        </p:nvSpPr>
        <p:spPr>
          <a:xfrm>
            <a:off x="1206550" y="4322675"/>
            <a:ext cx="43107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AF50"/>
                </a:solidFill>
              </a:rPr>
              <a:t>Evidence Integrity: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/>
              <a:t>Provenance sealing + canonicalisation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1206550" y="4557903"/>
            <a:ext cx="3885565" cy="0"/>
          </a:xfrm>
          <a:custGeom>
            <a:rect b="b" l="l" r="r" t="t"/>
            <a:pathLst>
              <a:path extrusionOk="0" h="120000" w="3885565">
                <a:moveTo>
                  <a:pt x="0" y="0"/>
                </a:moveTo>
                <a:lnTo>
                  <a:pt x="3885133" y="0"/>
                </a:lnTo>
              </a:path>
            </a:pathLst>
          </a:custGeom>
          <a:noFill/>
          <a:ln cap="flat" cmpd="sng" w="25400">
            <a:solidFill>
              <a:srgbClr val="C2C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"/>
          <p:cNvSpPr txBox="1"/>
          <p:nvPr/>
        </p:nvSpPr>
        <p:spPr>
          <a:xfrm>
            <a:off x="1206551" y="4605450"/>
            <a:ext cx="41097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AF50"/>
                </a:solidFill>
              </a:rPr>
              <a:t>Independence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200"/>
              <a:t>Group duplicate/correlated evidence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1206550" y="4830826"/>
            <a:ext cx="3885565" cy="0"/>
          </a:xfrm>
          <a:custGeom>
            <a:rect b="b" l="l" r="r" t="t"/>
            <a:pathLst>
              <a:path extrusionOk="0" h="120000" w="3885565">
                <a:moveTo>
                  <a:pt x="0" y="0"/>
                </a:moveTo>
                <a:lnTo>
                  <a:pt x="3885133" y="0"/>
                </a:lnTo>
              </a:path>
            </a:pathLst>
          </a:custGeom>
          <a:noFill/>
          <a:ln cap="flat" cmpd="sng" w="25400">
            <a:solidFill>
              <a:srgbClr val="C2C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 txBox="1"/>
          <p:nvPr/>
        </p:nvSpPr>
        <p:spPr>
          <a:xfrm>
            <a:off x="1206075" y="4850375"/>
            <a:ext cx="38856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AF50"/>
                </a:solidFill>
              </a:rPr>
              <a:t>Validation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200"/>
              <a:t>Counter-evidence + must-not-link checks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1206550" y="5103748"/>
            <a:ext cx="3885565" cy="0"/>
          </a:xfrm>
          <a:custGeom>
            <a:rect b="b" l="l" r="r" t="t"/>
            <a:pathLst>
              <a:path extrusionOk="0" h="120000" w="3885565">
                <a:moveTo>
                  <a:pt x="0" y="0"/>
                </a:moveTo>
                <a:lnTo>
                  <a:pt x="3885133" y="0"/>
                </a:lnTo>
              </a:path>
            </a:pathLst>
          </a:custGeom>
          <a:noFill/>
          <a:ln cap="flat" cmpd="sng" w="25400">
            <a:solidFill>
              <a:srgbClr val="C2C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"/>
          <p:cNvSpPr txBox="1"/>
          <p:nvPr/>
        </p:nvSpPr>
        <p:spPr>
          <a:xfrm>
            <a:off x="1206075" y="5123425"/>
            <a:ext cx="38856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AF50"/>
                </a:solidFill>
              </a:rPr>
              <a:t>Security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200"/>
              <a:t>Isolated collection + authenticated access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1206550" y="5376798"/>
            <a:ext cx="3885565" cy="0"/>
          </a:xfrm>
          <a:custGeom>
            <a:rect b="b" l="l" r="r" t="t"/>
            <a:pathLst>
              <a:path extrusionOk="0" h="120000" w="3885565">
                <a:moveTo>
                  <a:pt x="0" y="0"/>
                </a:moveTo>
                <a:lnTo>
                  <a:pt x="3885133" y="0"/>
                </a:lnTo>
              </a:path>
            </a:pathLst>
          </a:custGeom>
          <a:noFill/>
          <a:ln cap="flat" cmpd="sng" w="25400">
            <a:solidFill>
              <a:srgbClr val="C2C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 txBox="1"/>
          <p:nvPr/>
        </p:nvSpPr>
        <p:spPr>
          <a:xfrm>
            <a:off x="1205950" y="5396600"/>
            <a:ext cx="38856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AF50"/>
                </a:solidFill>
              </a:rPr>
              <a:t>Scaling: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/>
              <a:t>Measurement-based migration triggers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1206550" y="5649785"/>
            <a:ext cx="3885565" cy="0"/>
          </a:xfrm>
          <a:custGeom>
            <a:rect b="b" l="l" r="r" t="t"/>
            <a:pathLst>
              <a:path extrusionOk="0" h="120000" w="3885565">
                <a:moveTo>
                  <a:pt x="0" y="0"/>
                </a:moveTo>
                <a:lnTo>
                  <a:pt x="3885133" y="0"/>
                </a:lnTo>
              </a:path>
            </a:pathLst>
          </a:custGeom>
          <a:noFill/>
          <a:ln cap="flat" cmpd="sng" w="25400">
            <a:solidFill>
              <a:srgbClr val="C2C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2" name="Google Shape;212;p10"/>
          <p:cNvGrpSpPr/>
          <p:nvPr/>
        </p:nvGrpSpPr>
        <p:grpSpPr>
          <a:xfrm>
            <a:off x="5591547" y="3944092"/>
            <a:ext cx="1589549" cy="2074177"/>
            <a:chOff x="5591547" y="3944092"/>
            <a:chExt cx="1589549" cy="2074177"/>
          </a:xfrm>
        </p:grpSpPr>
        <p:pic>
          <p:nvPicPr>
            <p:cNvPr id="213" name="Google Shape;213;p10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5591547" y="3944092"/>
              <a:ext cx="1589549" cy="20741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" name="Google Shape;214;p10"/>
            <p:cNvSpPr/>
            <p:nvPr/>
          </p:nvSpPr>
          <p:spPr>
            <a:xfrm>
              <a:off x="5643372" y="3976115"/>
              <a:ext cx="1490345" cy="1974850"/>
            </a:xfrm>
            <a:custGeom>
              <a:rect b="b" l="l" r="r" t="t"/>
              <a:pathLst>
                <a:path extrusionOk="0" h="1974850" w="1490345">
                  <a:moveTo>
                    <a:pt x="1341247" y="0"/>
                  </a:moveTo>
                  <a:lnTo>
                    <a:pt x="149098" y="0"/>
                  </a:lnTo>
                  <a:lnTo>
                    <a:pt x="101990" y="7592"/>
                  </a:lnTo>
                  <a:lnTo>
                    <a:pt x="61063" y="28736"/>
                  </a:lnTo>
                  <a:lnTo>
                    <a:pt x="28781" y="60981"/>
                  </a:lnTo>
                  <a:lnTo>
                    <a:pt x="7605" y="101876"/>
                  </a:lnTo>
                  <a:lnTo>
                    <a:pt x="0" y="148970"/>
                  </a:lnTo>
                  <a:lnTo>
                    <a:pt x="0" y="1825637"/>
                  </a:lnTo>
                  <a:lnTo>
                    <a:pt x="7605" y="1872742"/>
                  </a:lnTo>
                  <a:lnTo>
                    <a:pt x="28781" y="1913650"/>
                  </a:lnTo>
                  <a:lnTo>
                    <a:pt x="61063" y="1945908"/>
                  </a:lnTo>
                  <a:lnTo>
                    <a:pt x="101990" y="1967062"/>
                  </a:lnTo>
                  <a:lnTo>
                    <a:pt x="149098" y="1974659"/>
                  </a:lnTo>
                  <a:lnTo>
                    <a:pt x="1341247" y="1974659"/>
                  </a:lnTo>
                  <a:lnTo>
                    <a:pt x="1388341" y="1967062"/>
                  </a:lnTo>
                  <a:lnTo>
                    <a:pt x="1429236" y="1945908"/>
                  </a:lnTo>
                  <a:lnTo>
                    <a:pt x="1461481" y="1913650"/>
                  </a:lnTo>
                  <a:lnTo>
                    <a:pt x="1482625" y="1872742"/>
                  </a:lnTo>
                  <a:lnTo>
                    <a:pt x="1490218" y="1825637"/>
                  </a:lnTo>
                  <a:lnTo>
                    <a:pt x="1490218" y="148970"/>
                  </a:lnTo>
                  <a:lnTo>
                    <a:pt x="1482625" y="101876"/>
                  </a:lnTo>
                  <a:lnTo>
                    <a:pt x="1461481" y="60981"/>
                  </a:lnTo>
                  <a:lnTo>
                    <a:pt x="1429236" y="28736"/>
                  </a:lnTo>
                  <a:lnTo>
                    <a:pt x="1388341" y="7592"/>
                  </a:lnTo>
                  <a:lnTo>
                    <a:pt x="1341247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0"/>
            <p:cNvSpPr/>
            <p:nvPr/>
          </p:nvSpPr>
          <p:spPr>
            <a:xfrm>
              <a:off x="5643372" y="3976115"/>
              <a:ext cx="1490345" cy="1974850"/>
            </a:xfrm>
            <a:custGeom>
              <a:rect b="b" l="l" r="r" t="t"/>
              <a:pathLst>
                <a:path extrusionOk="0" h="1974850" w="1490345">
                  <a:moveTo>
                    <a:pt x="0" y="148970"/>
                  </a:moveTo>
                  <a:lnTo>
                    <a:pt x="7605" y="101876"/>
                  </a:lnTo>
                  <a:lnTo>
                    <a:pt x="28781" y="60981"/>
                  </a:lnTo>
                  <a:lnTo>
                    <a:pt x="61063" y="28736"/>
                  </a:lnTo>
                  <a:lnTo>
                    <a:pt x="101990" y="7592"/>
                  </a:lnTo>
                  <a:lnTo>
                    <a:pt x="149098" y="0"/>
                  </a:lnTo>
                  <a:lnTo>
                    <a:pt x="1341247" y="0"/>
                  </a:lnTo>
                  <a:lnTo>
                    <a:pt x="1388341" y="7592"/>
                  </a:lnTo>
                  <a:lnTo>
                    <a:pt x="1429236" y="28736"/>
                  </a:lnTo>
                  <a:lnTo>
                    <a:pt x="1461481" y="60981"/>
                  </a:lnTo>
                  <a:lnTo>
                    <a:pt x="1482625" y="101876"/>
                  </a:lnTo>
                  <a:lnTo>
                    <a:pt x="1490218" y="148970"/>
                  </a:lnTo>
                  <a:lnTo>
                    <a:pt x="1490218" y="1825637"/>
                  </a:lnTo>
                  <a:lnTo>
                    <a:pt x="1482625" y="1872742"/>
                  </a:lnTo>
                  <a:lnTo>
                    <a:pt x="1461481" y="1913650"/>
                  </a:lnTo>
                  <a:lnTo>
                    <a:pt x="1429236" y="1945908"/>
                  </a:lnTo>
                  <a:lnTo>
                    <a:pt x="1388341" y="1967062"/>
                  </a:lnTo>
                  <a:lnTo>
                    <a:pt x="1341247" y="1974659"/>
                  </a:lnTo>
                  <a:lnTo>
                    <a:pt x="149098" y="1974659"/>
                  </a:lnTo>
                  <a:lnTo>
                    <a:pt x="101990" y="1967062"/>
                  </a:lnTo>
                  <a:lnTo>
                    <a:pt x="61063" y="1945908"/>
                  </a:lnTo>
                  <a:lnTo>
                    <a:pt x="28781" y="1913650"/>
                  </a:lnTo>
                  <a:lnTo>
                    <a:pt x="7605" y="1872742"/>
                  </a:lnTo>
                  <a:lnTo>
                    <a:pt x="0" y="1825637"/>
                  </a:lnTo>
                  <a:lnTo>
                    <a:pt x="0" y="148970"/>
                  </a:lnTo>
                  <a:close/>
                </a:path>
              </a:pathLst>
            </a:custGeom>
            <a:noFill/>
            <a:ln cap="flat" cmpd="sng" w="380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6" name="Google Shape;216;p10"/>
          <p:cNvSpPr txBox="1"/>
          <p:nvPr/>
        </p:nvSpPr>
        <p:spPr>
          <a:xfrm>
            <a:off x="5750725" y="4809900"/>
            <a:ext cx="12729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260350" lvl="0" marL="12700" marR="508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</a:rPr>
              <a:t> TECHNICAL</a:t>
            </a:r>
            <a:endParaRPr b="1" sz="1000">
              <a:solidFill>
                <a:srgbClr val="FFFFFF"/>
              </a:solidFill>
            </a:endParaRPr>
          </a:p>
          <a:p>
            <a:pPr indent="0" lvl="0" marL="12700" marR="508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</a:rPr>
              <a:t>Open-source stack,</a:t>
            </a:r>
            <a:endParaRPr sz="1000">
              <a:solidFill>
                <a:srgbClr val="FFFFFF"/>
              </a:solidFill>
            </a:endParaRPr>
          </a:p>
          <a:p>
            <a:pPr indent="0" lvl="0" marL="12700" marR="508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</a:rPr>
              <a:t>Modular &amp; CPU-viable</a:t>
            </a:r>
            <a:endParaRPr sz="1000">
              <a:solidFill>
                <a:srgbClr val="FFFFFF"/>
              </a:solidFill>
            </a:endParaRPr>
          </a:p>
        </p:txBody>
      </p:sp>
      <p:grpSp>
        <p:nvGrpSpPr>
          <p:cNvPr id="217" name="Google Shape;217;p10"/>
          <p:cNvGrpSpPr/>
          <p:nvPr/>
        </p:nvGrpSpPr>
        <p:grpSpPr>
          <a:xfrm>
            <a:off x="5998464" y="3934955"/>
            <a:ext cx="2726436" cy="2092452"/>
            <a:chOff x="5998464" y="3934955"/>
            <a:chExt cx="2726436" cy="2092452"/>
          </a:xfrm>
        </p:grpSpPr>
        <p:pic>
          <p:nvPicPr>
            <p:cNvPr id="218" name="Google Shape;218;p10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5998464" y="4052290"/>
              <a:ext cx="775703" cy="7772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9" name="Google Shape;219;p10"/>
            <p:cNvSpPr/>
            <p:nvPr/>
          </p:nvSpPr>
          <p:spPr>
            <a:xfrm>
              <a:off x="6111875" y="4142028"/>
              <a:ext cx="556260" cy="560705"/>
            </a:xfrm>
            <a:custGeom>
              <a:rect b="b" l="l" r="r" t="t"/>
              <a:pathLst>
                <a:path extrusionOk="0" h="560704" w="556259">
                  <a:moveTo>
                    <a:pt x="325069" y="277139"/>
                  </a:moveTo>
                  <a:lnTo>
                    <a:pt x="323392" y="268605"/>
                  </a:lnTo>
                  <a:lnTo>
                    <a:pt x="318808" y="261721"/>
                  </a:lnTo>
                  <a:lnTo>
                    <a:pt x="311924" y="257124"/>
                  </a:lnTo>
                  <a:lnTo>
                    <a:pt x="303390" y="255460"/>
                  </a:lnTo>
                  <a:lnTo>
                    <a:pt x="284429" y="255460"/>
                  </a:lnTo>
                  <a:lnTo>
                    <a:pt x="284429" y="296113"/>
                  </a:lnTo>
                  <a:lnTo>
                    <a:pt x="284429" y="451954"/>
                  </a:lnTo>
                  <a:lnTo>
                    <a:pt x="40627" y="451954"/>
                  </a:lnTo>
                  <a:lnTo>
                    <a:pt x="40627" y="296113"/>
                  </a:lnTo>
                  <a:lnTo>
                    <a:pt x="284429" y="296113"/>
                  </a:lnTo>
                  <a:lnTo>
                    <a:pt x="284429" y="255460"/>
                  </a:lnTo>
                  <a:lnTo>
                    <a:pt x="21666" y="255460"/>
                  </a:lnTo>
                  <a:lnTo>
                    <a:pt x="13144" y="257124"/>
                  </a:lnTo>
                  <a:lnTo>
                    <a:pt x="6261" y="261721"/>
                  </a:lnTo>
                  <a:lnTo>
                    <a:pt x="1676" y="268605"/>
                  </a:lnTo>
                  <a:lnTo>
                    <a:pt x="0" y="277139"/>
                  </a:lnTo>
                  <a:lnTo>
                    <a:pt x="0" y="458952"/>
                  </a:lnTo>
                  <a:lnTo>
                    <a:pt x="762" y="460336"/>
                  </a:lnTo>
                  <a:lnTo>
                    <a:pt x="25120" y="492607"/>
                  </a:lnTo>
                  <a:lnTo>
                    <a:pt x="128676" y="492607"/>
                  </a:lnTo>
                  <a:lnTo>
                    <a:pt x="128676" y="519722"/>
                  </a:lnTo>
                  <a:lnTo>
                    <a:pt x="81267" y="519722"/>
                  </a:lnTo>
                  <a:lnTo>
                    <a:pt x="81267" y="544817"/>
                  </a:lnTo>
                  <a:lnTo>
                    <a:pt x="97561" y="557098"/>
                  </a:lnTo>
                  <a:lnTo>
                    <a:pt x="103454" y="560374"/>
                  </a:lnTo>
                  <a:lnTo>
                    <a:pt x="243801" y="560374"/>
                  </a:lnTo>
                  <a:lnTo>
                    <a:pt x="243801" y="519722"/>
                  </a:lnTo>
                  <a:lnTo>
                    <a:pt x="196392" y="519722"/>
                  </a:lnTo>
                  <a:lnTo>
                    <a:pt x="196392" y="492607"/>
                  </a:lnTo>
                  <a:lnTo>
                    <a:pt x="303390" y="492607"/>
                  </a:lnTo>
                  <a:lnTo>
                    <a:pt x="311924" y="490943"/>
                  </a:lnTo>
                  <a:lnTo>
                    <a:pt x="318808" y="486346"/>
                  </a:lnTo>
                  <a:lnTo>
                    <a:pt x="323392" y="479463"/>
                  </a:lnTo>
                  <a:lnTo>
                    <a:pt x="325069" y="470928"/>
                  </a:lnTo>
                  <a:lnTo>
                    <a:pt x="325069" y="451954"/>
                  </a:lnTo>
                  <a:lnTo>
                    <a:pt x="325069" y="296113"/>
                  </a:lnTo>
                  <a:lnTo>
                    <a:pt x="325069" y="277139"/>
                  </a:lnTo>
                  <a:close/>
                </a:path>
                <a:path extrusionOk="0" h="560704" w="556259">
                  <a:moveTo>
                    <a:pt x="556006" y="157200"/>
                  </a:moveTo>
                  <a:lnTo>
                    <a:pt x="552043" y="134023"/>
                  </a:lnTo>
                  <a:lnTo>
                    <a:pt x="541096" y="114096"/>
                  </a:lnTo>
                  <a:lnTo>
                    <a:pt x="524573" y="98602"/>
                  </a:lnTo>
                  <a:lnTo>
                    <a:pt x="516039" y="94551"/>
                  </a:lnTo>
                  <a:lnTo>
                    <a:pt x="516039" y="156527"/>
                  </a:lnTo>
                  <a:lnTo>
                    <a:pt x="513156" y="168541"/>
                  </a:lnTo>
                  <a:lnTo>
                    <a:pt x="506234" y="178320"/>
                  </a:lnTo>
                  <a:lnTo>
                    <a:pt x="506145" y="178460"/>
                  </a:lnTo>
                  <a:lnTo>
                    <a:pt x="495769" y="185318"/>
                  </a:lnTo>
                  <a:lnTo>
                    <a:pt x="495363" y="185318"/>
                  </a:lnTo>
                  <a:lnTo>
                    <a:pt x="483539" y="187693"/>
                  </a:lnTo>
                  <a:lnTo>
                    <a:pt x="283083" y="187693"/>
                  </a:lnTo>
                  <a:lnTo>
                    <a:pt x="247180" y="163982"/>
                  </a:lnTo>
                  <a:lnTo>
                    <a:pt x="243840" y="146367"/>
                  </a:lnTo>
                  <a:lnTo>
                    <a:pt x="243713" y="141782"/>
                  </a:lnTo>
                  <a:lnTo>
                    <a:pt x="266738" y="108077"/>
                  </a:lnTo>
                  <a:lnTo>
                    <a:pt x="285115" y="103670"/>
                  </a:lnTo>
                  <a:lnTo>
                    <a:pt x="289852" y="103670"/>
                  </a:lnTo>
                  <a:lnTo>
                    <a:pt x="291884" y="104355"/>
                  </a:lnTo>
                  <a:lnTo>
                    <a:pt x="304076" y="106387"/>
                  </a:lnTo>
                  <a:lnTo>
                    <a:pt x="304076" y="103670"/>
                  </a:lnTo>
                  <a:lnTo>
                    <a:pt x="304076" y="92837"/>
                  </a:lnTo>
                  <a:lnTo>
                    <a:pt x="306857" y="76111"/>
                  </a:lnTo>
                  <a:lnTo>
                    <a:pt x="344030" y="42011"/>
                  </a:lnTo>
                  <a:lnTo>
                    <a:pt x="352158" y="40652"/>
                  </a:lnTo>
                  <a:lnTo>
                    <a:pt x="356222" y="40652"/>
                  </a:lnTo>
                  <a:lnTo>
                    <a:pt x="394119" y="57238"/>
                  </a:lnTo>
                  <a:lnTo>
                    <a:pt x="406336" y="77241"/>
                  </a:lnTo>
                  <a:lnTo>
                    <a:pt x="415137" y="73863"/>
                  </a:lnTo>
                  <a:lnTo>
                    <a:pt x="419201" y="72504"/>
                  </a:lnTo>
                  <a:lnTo>
                    <a:pt x="423938" y="71831"/>
                  </a:lnTo>
                  <a:lnTo>
                    <a:pt x="428675" y="71831"/>
                  </a:lnTo>
                  <a:lnTo>
                    <a:pt x="435152" y="72326"/>
                  </a:lnTo>
                  <a:lnTo>
                    <a:pt x="441744" y="73863"/>
                  </a:lnTo>
                  <a:lnTo>
                    <a:pt x="441591" y="73863"/>
                  </a:lnTo>
                  <a:lnTo>
                    <a:pt x="447344" y="76111"/>
                  </a:lnTo>
                  <a:lnTo>
                    <a:pt x="453059" y="79273"/>
                  </a:lnTo>
                  <a:lnTo>
                    <a:pt x="460387" y="86207"/>
                  </a:lnTo>
                  <a:lnTo>
                    <a:pt x="465924" y="94526"/>
                  </a:lnTo>
                  <a:lnTo>
                    <a:pt x="469366" y="103670"/>
                  </a:lnTo>
                  <a:lnTo>
                    <a:pt x="469442" y="103860"/>
                  </a:lnTo>
                  <a:lnTo>
                    <a:pt x="470611" y="113398"/>
                  </a:lnTo>
                  <a:lnTo>
                    <a:pt x="470674" y="124675"/>
                  </a:lnTo>
                  <a:lnTo>
                    <a:pt x="484212" y="124675"/>
                  </a:lnTo>
                  <a:lnTo>
                    <a:pt x="496620" y="127177"/>
                  </a:lnTo>
                  <a:lnTo>
                    <a:pt x="506755" y="134023"/>
                  </a:lnTo>
                  <a:lnTo>
                    <a:pt x="513549" y="144119"/>
                  </a:lnTo>
                  <a:lnTo>
                    <a:pt x="516039" y="156527"/>
                  </a:lnTo>
                  <a:lnTo>
                    <a:pt x="516039" y="94551"/>
                  </a:lnTo>
                  <a:lnTo>
                    <a:pt x="503859" y="88760"/>
                  </a:lnTo>
                  <a:lnTo>
                    <a:pt x="497687" y="71831"/>
                  </a:lnTo>
                  <a:lnTo>
                    <a:pt x="495757" y="66548"/>
                  </a:lnTo>
                  <a:lnTo>
                    <a:pt x="480834" y="48806"/>
                  </a:lnTo>
                  <a:lnTo>
                    <a:pt x="480021" y="48285"/>
                  </a:lnTo>
                  <a:lnTo>
                    <a:pt x="467029" y="40652"/>
                  </a:lnTo>
                  <a:lnTo>
                    <a:pt x="460527" y="36830"/>
                  </a:lnTo>
                  <a:lnTo>
                    <a:pt x="440537" y="33197"/>
                  </a:lnTo>
                  <a:lnTo>
                    <a:pt x="436803" y="32524"/>
                  </a:lnTo>
                  <a:lnTo>
                    <a:pt x="433425" y="32524"/>
                  </a:lnTo>
                  <a:lnTo>
                    <a:pt x="429361" y="33197"/>
                  </a:lnTo>
                  <a:lnTo>
                    <a:pt x="425970" y="33197"/>
                  </a:lnTo>
                  <a:lnTo>
                    <a:pt x="412216" y="19443"/>
                  </a:lnTo>
                  <a:lnTo>
                    <a:pt x="395668" y="8978"/>
                  </a:lnTo>
                  <a:lnTo>
                    <a:pt x="376834" y="2324"/>
                  </a:lnTo>
                  <a:lnTo>
                    <a:pt x="356222" y="0"/>
                  </a:lnTo>
                  <a:lnTo>
                    <a:pt x="326771" y="4940"/>
                  </a:lnTo>
                  <a:lnTo>
                    <a:pt x="301447" y="18630"/>
                  </a:lnTo>
                  <a:lnTo>
                    <a:pt x="281838" y="39446"/>
                  </a:lnTo>
                  <a:lnTo>
                    <a:pt x="269532" y="65722"/>
                  </a:lnTo>
                  <a:lnTo>
                    <a:pt x="243166" y="75844"/>
                  </a:lnTo>
                  <a:lnTo>
                    <a:pt x="222123" y="93853"/>
                  </a:lnTo>
                  <a:lnTo>
                    <a:pt x="208203" y="117944"/>
                  </a:lnTo>
                  <a:lnTo>
                    <a:pt x="203161" y="146367"/>
                  </a:lnTo>
                  <a:lnTo>
                    <a:pt x="209575" y="178320"/>
                  </a:lnTo>
                  <a:lnTo>
                    <a:pt x="227037" y="204381"/>
                  </a:lnTo>
                  <a:lnTo>
                    <a:pt x="252882" y="221919"/>
                  </a:lnTo>
                  <a:lnTo>
                    <a:pt x="284429" y="228346"/>
                  </a:lnTo>
                  <a:lnTo>
                    <a:pt x="487603" y="228346"/>
                  </a:lnTo>
                  <a:lnTo>
                    <a:pt x="514858" y="222758"/>
                  </a:lnTo>
                  <a:lnTo>
                    <a:pt x="536524" y="207518"/>
                  </a:lnTo>
                  <a:lnTo>
                    <a:pt x="549071" y="187693"/>
                  </a:lnTo>
                  <a:lnTo>
                    <a:pt x="550837" y="184899"/>
                  </a:lnTo>
                  <a:lnTo>
                    <a:pt x="556006" y="157200"/>
                  </a:lnTo>
                  <a:close/>
                </a:path>
              </a:pathLst>
            </a:custGeom>
            <a:solidFill>
              <a:srgbClr val="C2CDE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0" name="Google Shape;220;p10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6468778" y="4397476"/>
              <a:ext cx="118577" cy="1504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10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6169381" y="4219946"/>
              <a:ext cx="118577" cy="1504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" name="Google Shape;222;p10"/>
            <p:cNvSpPr/>
            <p:nvPr/>
          </p:nvSpPr>
          <p:spPr>
            <a:xfrm>
              <a:off x="6059678" y="4094606"/>
              <a:ext cx="657860" cy="657860"/>
            </a:xfrm>
            <a:custGeom>
              <a:rect b="b" l="l" r="r" t="t"/>
              <a:pathLst>
                <a:path extrusionOk="0" h="657860" w="657859">
                  <a:moveTo>
                    <a:pt x="0" y="328803"/>
                  </a:moveTo>
                  <a:lnTo>
                    <a:pt x="3567" y="280211"/>
                  </a:lnTo>
                  <a:lnTo>
                    <a:pt x="13930" y="233834"/>
                  </a:lnTo>
                  <a:lnTo>
                    <a:pt x="30577" y="190180"/>
                  </a:lnTo>
                  <a:lnTo>
                    <a:pt x="52999" y="149758"/>
                  </a:lnTo>
                  <a:lnTo>
                    <a:pt x="80686" y="113077"/>
                  </a:lnTo>
                  <a:lnTo>
                    <a:pt x="113128" y="80644"/>
                  </a:lnTo>
                  <a:lnTo>
                    <a:pt x="149814" y="52967"/>
                  </a:lnTo>
                  <a:lnTo>
                    <a:pt x="190235" y="30557"/>
                  </a:lnTo>
                  <a:lnTo>
                    <a:pt x="233880" y="13919"/>
                  </a:lnTo>
                  <a:lnTo>
                    <a:pt x="280239" y="3564"/>
                  </a:lnTo>
                  <a:lnTo>
                    <a:pt x="328802" y="0"/>
                  </a:lnTo>
                  <a:lnTo>
                    <a:pt x="377394" y="3564"/>
                  </a:lnTo>
                  <a:lnTo>
                    <a:pt x="423771" y="13919"/>
                  </a:lnTo>
                  <a:lnTo>
                    <a:pt x="467425" y="30557"/>
                  </a:lnTo>
                  <a:lnTo>
                    <a:pt x="507847" y="52967"/>
                  </a:lnTo>
                  <a:lnTo>
                    <a:pt x="544528" y="80644"/>
                  </a:lnTo>
                  <a:lnTo>
                    <a:pt x="576961" y="113077"/>
                  </a:lnTo>
                  <a:lnTo>
                    <a:pt x="604638" y="149758"/>
                  </a:lnTo>
                  <a:lnTo>
                    <a:pt x="627048" y="190180"/>
                  </a:lnTo>
                  <a:lnTo>
                    <a:pt x="643686" y="233834"/>
                  </a:lnTo>
                  <a:lnTo>
                    <a:pt x="654041" y="280211"/>
                  </a:lnTo>
                  <a:lnTo>
                    <a:pt x="657605" y="328803"/>
                  </a:lnTo>
                  <a:lnTo>
                    <a:pt x="654041" y="377363"/>
                  </a:lnTo>
                  <a:lnTo>
                    <a:pt x="643686" y="423714"/>
                  </a:lnTo>
                  <a:lnTo>
                    <a:pt x="627048" y="467347"/>
                  </a:lnTo>
                  <a:lnTo>
                    <a:pt x="604638" y="507752"/>
                  </a:lnTo>
                  <a:lnTo>
                    <a:pt x="576961" y="544422"/>
                  </a:lnTo>
                  <a:lnTo>
                    <a:pt x="544528" y="576846"/>
                  </a:lnTo>
                  <a:lnTo>
                    <a:pt x="507847" y="604517"/>
                  </a:lnTo>
                  <a:lnTo>
                    <a:pt x="467425" y="626924"/>
                  </a:lnTo>
                  <a:lnTo>
                    <a:pt x="423771" y="643559"/>
                  </a:lnTo>
                  <a:lnTo>
                    <a:pt x="377394" y="653914"/>
                  </a:lnTo>
                  <a:lnTo>
                    <a:pt x="328802" y="657479"/>
                  </a:lnTo>
                  <a:lnTo>
                    <a:pt x="280239" y="653914"/>
                  </a:lnTo>
                  <a:lnTo>
                    <a:pt x="233880" y="643559"/>
                  </a:lnTo>
                  <a:lnTo>
                    <a:pt x="190235" y="626924"/>
                  </a:lnTo>
                  <a:lnTo>
                    <a:pt x="149814" y="604517"/>
                  </a:lnTo>
                  <a:lnTo>
                    <a:pt x="113128" y="576846"/>
                  </a:lnTo>
                  <a:lnTo>
                    <a:pt x="80686" y="544422"/>
                  </a:lnTo>
                  <a:lnTo>
                    <a:pt x="52999" y="507752"/>
                  </a:lnTo>
                  <a:lnTo>
                    <a:pt x="30577" y="467347"/>
                  </a:lnTo>
                  <a:lnTo>
                    <a:pt x="13930" y="423714"/>
                  </a:lnTo>
                  <a:lnTo>
                    <a:pt x="3567" y="377363"/>
                  </a:lnTo>
                  <a:lnTo>
                    <a:pt x="0" y="328803"/>
                  </a:lnTo>
                  <a:close/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3" name="Google Shape;223;p10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7117080" y="3934955"/>
              <a:ext cx="1607820" cy="20924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4" name="Google Shape;224;p10"/>
            <p:cNvSpPr/>
            <p:nvPr/>
          </p:nvSpPr>
          <p:spPr>
            <a:xfrm>
              <a:off x="7178294" y="3976115"/>
              <a:ext cx="1490345" cy="1974850"/>
            </a:xfrm>
            <a:custGeom>
              <a:rect b="b" l="l" r="r" t="t"/>
              <a:pathLst>
                <a:path extrusionOk="0" h="1974850" w="1490345">
                  <a:moveTo>
                    <a:pt x="1341247" y="0"/>
                  </a:moveTo>
                  <a:lnTo>
                    <a:pt x="149098" y="0"/>
                  </a:lnTo>
                  <a:lnTo>
                    <a:pt x="101990" y="7592"/>
                  </a:lnTo>
                  <a:lnTo>
                    <a:pt x="61063" y="28736"/>
                  </a:lnTo>
                  <a:lnTo>
                    <a:pt x="28781" y="60981"/>
                  </a:lnTo>
                  <a:lnTo>
                    <a:pt x="7605" y="101876"/>
                  </a:lnTo>
                  <a:lnTo>
                    <a:pt x="0" y="148970"/>
                  </a:lnTo>
                  <a:lnTo>
                    <a:pt x="0" y="1825637"/>
                  </a:lnTo>
                  <a:lnTo>
                    <a:pt x="7605" y="1872742"/>
                  </a:lnTo>
                  <a:lnTo>
                    <a:pt x="28781" y="1913650"/>
                  </a:lnTo>
                  <a:lnTo>
                    <a:pt x="61063" y="1945908"/>
                  </a:lnTo>
                  <a:lnTo>
                    <a:pt x="101990" y="1967062"/>
                  </a:lnTo>
                  <a:lnTo>
                    <a:pt x="149098" y="1974659"/>
                  </a:lnTo>
                  <a:lnTo>
                    <a:pt x="1341247" y="1974659"/>
                  </a:lnTo>
                  <a:lnTo>
                    <a:pt x="1388341" y="1967062"/>
                  </a:lnTo>
                  <a:lnTo>
                    <a:pt x="1429236" y="1945908"/>
                  </a:lnTo>
                  <a:lnTo>
                    <a:pt x="1461481" y="1913650"/>
                  </a:lnTo>
                  <a:lnTo>
                    <a:pt x="1482625" y="1872742"/>
                  </a:lnTo>
                  <a:lnTo>
                    <a:pt x="1490217" y="1825637"/>
                  </a:lnTo>
                  <a:lnTo>
                    <a:pt x="1490217" y="148970"/>
                  </a:lnTo>
                  <a:lnTo>
                    <a:pt x="1482625" y="101876"/>
                  </a:lnTo>
                  <a:lnTo>
                    <a:pt x="1461481" y="60981"/>
                  </a:lnTo>
                  <a:lnTo>
                    <a:pt x="1429236" y="28736"/>
                  </a:lnTo>
                  <a:lnTo>
                    <a:pt x="1388341" y="7592"/>
                  </a:lnTo>
                  <a:lnTo>
                    <a:pt x="1341247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0"/>
            <p:cNvSpPr/>
            <p:nvPr/>
          </p:nvSpPr>
          <p:spPr>
            <a:xfrm>
              <a:off x="7178294" y="3976115"/>
              <a:ext cx="1490345" cy="1974850"/>
            </a:xfrm>
            <a:custGeom>
              <a:rect b="b" l="l" r="r" t="t"/>
              <a:pathLst>
                <a:path extrusionOk="0" h="1974850" w="1490345">
                  <a:moveTo>
                    <a:pt x="0" y="148970"/>
                  </a:moveTo>
                  <a:lnTo>
                    <a:pt x="7605" y="101876"/>
                  </a:lnTo>
                  <a:lnTo>
                    <a:pt x="28781" y="60981"/>
                  </a:lnTo>
                  <a:lnTo>
                    <a:pt x="61063" y="28736"/>
                  </a:lnTo>
                  <a:lnTo>
                    <a:pt x="101990" y="7592"/>
                  </a:lnTo>
                  <a:lnTo>
                    <a:pt x="149098" y="0"/>
                  </a:lnTo>
                  <a:lnTo>
                    <a:pt x="1341247" y="0"/>
                  </a:lnTo>
                  <a:lnTo>
                    <a:pt x="1388341" y="7592"/>
                  </a:lnTo>
                  <a:lnTo>
                    <a:pt x="1429236" y="28736"/>
                  </a:lnTo>
                  <a:lnTo>
                    <a:pt x="1461481" y="60981"/>
                  </a:lnTo>
                  <a:lnTo>
                    <a:pt x="1482625" y="101876"/>
                  </a:lnTo>
                  <a:lnTo>
                    <a:pt x="1490217" y="148970"/>
                  </a:lnTo>
                  <a:lnTo>
                    <a:pt x="1490217" y="1825637"/>
                  </a:lnTo>
                  <a:lnTo>
                    <a:pt x="1482625" y="1872742"/>
                  </a:lnTo>
                  <a:lnTo>
                    <a:pt x="1461481" y="1913650"/>
                  </a:lnTo>
                  <a:lnTo>
                    <a:pt x="1429236" y="1945908"/>
                  </a:lnTo>
                  <a:lnTo>
                    <a:pt x="1388341" y="1967062"/>
                  </a:lnTo>
                  <a:lnTo>
                    <a:pt x="1341247" y="1974659"/>
                  </a:lnTo>
                  <a:lnTo>
                    <a:pt x="149098" y="1974659"/>
                  </a:lnTo>
                  <a:lnTo>
                    <a:pt x="101990" y="1967062"/>
                  </a:lnTo>
                  <a:lnTo>
                    <a:pt x="61063" y="1945908"/>
                  </a:lnTo>
                  <a:lnTo>
                    <a:pt x="28781" y="1913650"/>
                  </a:lnTo>
                  <a:lnTo>
                    <a:pt x="7605" y="1872742"/>
                  </a:lnTo>
                  <a:lnTo>
                    <a:pt x="0" y="1825637"/>
                  </a:lnTo>
                  <a:lnTo>
                    <a:pt x="0" y="148970"/>
                  </a:lnTo>
                  <a:close/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6" name="Google Shape;226;p10"/>
          <p:cNvSpPr txBox="1"/>
          <p:nvPr/>
        </p:nvSpPr>
        <p:spPr>
          <a:xfrm>
            <a:off x="7270812" y="4858950"/>
            <a:ext cx="14322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275">
            <a:spAutoFit/>
          </a:bodyPr>
          <a:lstStyle/>
          <a:p>
            <a:pPr indent="-341630" lvl="0" marL="353695" marR="5080" rtl="0" algn="l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</a:rPr>
              <a:t>      OPERATIONAL</a:t>
            </a:r>
            <a:endParaRPr b="1" sz="1000">
              <a:solidFill>
                <a:srgbClr val="FFFFFF"/>
              </a:solidFill>
            </a:endParaRPr>
          </a:p>
          <a:p>
            <a:pPr indent="-341630" lvl="0" marL="353695" marR="5080" rtl="0" algn="l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</a:rPr>
              <a:t>Analyst-in-the-loop</a:t>
            </a:r>
            <a:endParaRPr sz="1000">
              <a:solidFill>
                <a:srgbClr val="FFFFFF"/>
              </a:solidFill>
            </a:endParaRPr>
          </a:p>
          <a:p>
            <a:pPr indent="-341630" lvl="0" marL="353695" marR="5080" rtl="0" algn="l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</a:rPr>
              <a:t>Offline &amp; reproducible</a:t>
            </a:r>
            <a:endParaRPr sz="1000">
              <a:solidFill>
                <a:srgbClr val="FFFFFF"/>
              </a:solidFill>
            </a:endParaRPr>
          </a:p>
        </p:txBody>
      </p:sp>
      <p:grpSp>
        <p:nvGrpSpPr>
          <p:cNvPr id="227" name="Google Shape;227;p10"/>
          <p:cNvGrpSpPr/>
          <p:nvPr/>
        </p:nvGrpSpPr>
        <p:grpSpPr>
          <a:xfrm>
            <a:off x="7533131" y="3934955"/>
            <a:ext cx="2731008" cy="2092452"/>
            <a:chOff x="7533131" y="3934955"/>
            <a:chExt cx="2731008" cy="2092452"/>
          </a:xfrm>
        </p:grpSpPr>
        <p:pic>
          <p:nvPicPr>
            <p:cNvPr id="228" name="Google Shape;228;p10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7533131" y="4052290"/>
              <a:ext cx="775703" cy="7772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p10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7829607" y="4275848"/>
              <a:ext cx="189667" cy="1892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" name="Google Shape;230;p10"/>
            <p:cNvSpPr/>
            <p:nvPr/>
          </p:nvSpPr>
          <p:spPr>
            <a:xfrm>
              <a:off x="7667118" y="4173869"/>
              <a:ext cx="514984" cy="508634"/>
            </a:xfrm>
            <a:custGeom>
              <a:rect b="b" l="l" r="r" t="t"/>
              <a:pathLst>
                <a:path extrusionOk="0" h="508635" w="514984">
                  <a:moveTo>
                    <a:pt x="270890" y="374236"/>
                  </a:moveTo>
                  <a:lnTo>
                    <a:pt x="243801" y="374236"/>
                  </a:lnTo>
                  <a:lnTo>
                    <a:pt x="243801" y="502133"/>
                  </a:lnTo>
                  <a:lnTo>
                    <a:pt x="249862" y="508197"/>
                  </a:lnTo>
                  <a:lnTo>
                    <a:pt x="264829" y="508197"/>
                  </a:lnTo>
                  <a:lnTo>
                    <a:pt x="270890" y="502133"/>
                  </a:lnTo>
                  <a:lnTo>
                    <a:pt x="270890" y="374236"/>
                  </a:lnTo>
                  <a:close/>
                </a:path>
                <a:path extrusionOk="0" h="508635" w="514984">
                  <a:moveTo>
                    <a:pt x="294322" y="359126"/>
                  </a:moveTo>
                  <a:lnTo>
                    <a:pt x="220369" y="359126"/>
                  </a:lnTo>
                  <a:lnTo>
                    <a:pt x="116076" y="463476"/>
                  </a:lnTo>
                  <a:lnTo>
                    <a:pt x="110783" y="468829"/>
                  </a:lnTo>
                  <a:lnTo>
                    <a:pt x="110828" y="477457"/>
                  </a:lnTo>
                  <a:lnTo>
                    <a:pt x="121528" y="488050"/>
                  </a:lnTo>
                  <a:lnTo>
                    <a:pt x="130107" y="488050"/>
                  </a:lnTo>
                  <a:lnTo>
                    <a:pt x="135445" y="482652"/>
                  </a:lnTo>
                  <a:lnTo>
                    <a:pt x="243801" y="374236"/>
                  </a:lnTo>
                  <a:lnTo>
                    <a:pt x="270890" y="374236"/>
                  </a:lnTo>
                  <a:lnTo>
                    <a:pt x="270890" y="374033"/>
                  </a:lnTo>
                  <a:lnTo>
                    <a:pt x="309221" y="374033"/>
                  </a:lnTo>
                  <a:lnTo>
                    <a:pt x="294322" y="359126"/>
                  </a:lnTo>
                  <a:close/>
                </a:path>
                <a:path extrusionOk="0" h="508635" w="514984">
                  <a:moveTo>
                    <a:pt x="309221" y="374033"/>
                  </a:moveTo>
                  <a:lnTo>
                    <a:pt x="270890" y="374033"/>
                  </a:lnTo>
                  <a:lnTo>
                    <a:pt x="384539" y="487745"/>
                  </a:lnTo>
                  <a:lnTo>
                    <a:pt x="393117" y="487745"/>
                  </a:lnTo>
                  <a:lnTo>
                    <a:pt x="403705" y="477152"/>
                  </a:lnTo>
                  <a:lnTo>
                    <a:pt x="403705" y="468569"/>
                  </a:lnTo>
                  <a:lnTo>
                    <a:pt x="309221" y="374033"/>
                  </a:lnTo>
                  <a:close/>
                </a:path>
                <a:path extrusionOk="0" h="508635" w="514984">
                  <a:moveTo>
                    <a:pt x="508652" y="332022"/>
                  </a:moveTo>
                  <a:lnTo>
                    <a:pt x="6061" y="332022"/>
                  </a:lnTo>
                  <a:lnTo>
                    <a:pt x="0" y="338092"/>
                  </a:lnTo>
                  <a:lnTo>
                    <a:pt x="0" y="353061"/>
                  </a:lnTo>
                  <a:lnTo>
                    <a:pt x="6061" y="359126"/>
                  </a:lnTo>
                  <a:lnTo>
                    <a:pt x="508652" y="359126"/>
                  </a:lnTo>
                  <a:lnTo>
                    <a:pt x="514690" y="353062"/>
                  </a:lnTo>
                  <a:lnTo>
                    <a:pt x="514690" y="338092"/>
                  </a:lnTo>
                  <a:lnTo>
                    <a:pt x="508652" y="332022"/>
                  </a:lnTo>
                  <a:close/>
                </a:path>
                <a:path extrusionOk="0" h="508635" w="514984">
                  <a:moveTo>
                    <a:pt x="487601" y="54207"/>
                  </a:moveTo>
                  <a:lnTo>
                    <a:pt x="27088" y="54207"/>
                  </a:lnTo>
                  <a:lnTo>
                    <a:pt x="27089" y="332022"/>
                  </a:lnTo>
                  <a:lnTo>
                    <a:pt x="487601" y="332022"/>
                  </a:lnTo>
                  <a:lnTo>
                    <a:pt x="487601" y="318470"/>
                  </a:lnTo>
                  <a:lnTo>
                    <a:pt x="67722" y="318470"/>
                  </a:lnTo>
                  <a:lnTo>
                    <a:pt x="67722" y="74535"/>
                  </a:lnTo>
                  <a:lnTo>
                    <a:pt x="487601" y="74535"/>
                  </a:lnTo>
                  <a:lnTo>
                    <a:pt x="487601" y="54207"/>
                  </a:lnTo>
                  <a:close/>
                </a:path>
                <a:path extrusionOk="0" h="508635" w="514984">
                  <a:moveTo>
                    <a:pt x="487601" y="74535"/>
                  </a:moveTo>
                  <a:lnTo>
                    <a:pt x="446968" y="74535"/>
                  </a:lnTo>
                  <a:lnTo>
                    <a:pt x="446968" y="318470"/>
                  </a:lnTo>
                  <a:lnTo>
                    <a:pt x="487601" y="318470"/>
                  </a:lnTo>
                  <a:lnTo>
                    <a:pt x="487601" y="74535"/>
                  </a:lnTo>
                  <a:close/>
                </a:path>
                <a:path extrusionOk="0" h="508635" w="514984">
                  <a:moveTo>
                    <a:pt x="497732" y="27103"/>
                  </a:moveTo>
                  <a:lnTo>
                    <a:pt x="14835" y="27103"/>
                  </a:lnTo>
                  <a:lnTo>
                    <a:pt x="8125" y="33814"/>
                  </a:lnTo>
                  <a:lnTo>
                    <a:pt x="0" y="44583"/>
                  </a:lnTo>
                  <a:lnTo>
                    <a:pt x="0" y="48143"/>
                  </a:lnTo>
                  <a:lnTo>
                    <a:pt x="6061" y="54207"/>
                  </a:lnTo>
                  <a:lnTo>
                    <a:pt x="508651" y="54207"/>
                  </a:lnTo>
                  <a:lnTo>
                    <a:pt x="514690" y="48143"/>
                  </a:lnTo>
                  <a:lnTo>
                    <a:pt x="514690" y="47396"/>
                  </a:lnTo>
                  <a:lnTo>
                    <a:pt x="504443" y="33814"/>
                  </a:lnTo>
                  <a:lnTo>
                    <a:pt x="497732" y="27103"/>
                  </a:lnTo>
                  <a:close/>
                </a:path>
                <a:path extrusionOk="0" h="508635" w="514984">
                  <a:moveTo>
                    <a:pt x="264828" y="0"/>
                  </a:moveTo>
                  <a:lnTo>
                    <a:pt x="249861" y="0"/>
                  </a:lnTo>
                  <a:lnTo>
                    <a:pt x="243800" y="6041"/>
                  </a:lnTo>
                  <a:lnTo>
                    <a:pt x="243800" y="27103"/>
                  </a:lnTo>
                  <a:lnTo>
                    <a:pt x="270889" y="27103"/>
                  </a:lnTo>
                  <a:lnTo>
                    <a:pt x="270889" y="6041"/>
                  </a:lnTo>
                  <a:lnTo>
                    <a:pt x="264828" y="0"/>
                  </a:lnTo>
                  <a:close/>
                </a:path>
              </a:pathLst>
            </a:custGeom>
            <a:solidFill>
              <a:srgbClr val="C2CDE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0"/>
            <p:cNvSpPr/>
            <p:nvPr/>
          </p:nvSpPr>
          <p:spPr>
            <a:xfrm>
              <a:off x="7594599" y="4094606"/>
              <a:ext cx="657860" cy="657860"/>
            </a:xfrm>
            <a:custGeom>
              <a:rect b="b" l="l" r="r" t="t"/>
              <a:pathLst>
                <a:path extrusionOk="0" h="657860" w="657859">
                  <a:moveTo>
                    <a:pt x="0" y="328803"/>
                  </a:moveTo>
                  <a:lnTo>
                    <a:pt x="3564" y="280211"/>
                  </a:lnTo>
                  <a:lnTo>
                    <a:pt x="13919" y="233834"/>
                  </a:lnTo>
                  <a:lnTo>
                    <a:pt x="30557" y="190180"/>
                  </a:lnTo>
                  <a:lnTo>
                    <a:pt x="52967" y="149758"/>
                  </a:lnTo>
                  <a:lnTo>
                    <a:pt x="80644" y="113077"/>
                  </a:lnTo>
                  <a:lnTo>
                    <a:pt x="113077" y="80644"/>
                  </a:lnTo>
                  <a:lnTo>
                    <a:pt x="149758" y="52967"/>
                  </a:lnTo>
                  <a:lnTo>
                    <a:pt x="190180" y="30557"/>
                  </a:lnTo>
                  <a:lnTo>
                    <a:pt x="233834" y="13919"/>
                  </a:lnTo>
                  <a:lnTo>
                    <a:pt x="280211" y="3564"/>
                  </a:lnTo>
                  <a:lnTo>
                    <a:pt x="328802" y="0"/>
                  </a:lnTo>
                  <a:lnTo>
                    <a:pt x="377394" y="3564"/>
                  </a:lnTo>
                  <a:lnTo>
                    <a:pt x="423771" y="13919"/>
                  </a:lnTo>
                  <a:lnTo>
                    <a:pt x="467425" y="30557"/>
                  </a:lnTo>
                  <a:lnTo>
                    <a:pt x="507847" y="52967"/>
                  </a:lnTo>
                  <a:lnTo>
                    <a:pt x="544528" y="80644"/>
                  </a:lnTo>
                  <a:lnTo>
                    <a:pt x="576961" y="113077"/>
                  </a:lnTo>
                  <a:lnTo>
                    <a:pt x="604638" y="149758"/>
                  </a:lnTo>
                  <a:lnTo>
                    <a:pt x="627048" y="190180"/>
                  </a:lnTo>
                  <a:lnTo>
                    <a:pt x="643686" y="233834"/>
                  </a:lnTo>
                  <a:lnTo>
                    <a:pt x="654041" y="280211"/>
                  </a:lnTo>
                  <a:lnTo>
                    <a:pt x="657605" y="328803"/>
                  </a:lnTo>
                  <a:lnTo>
                    <a:pt x="654041" y="377363"/>
                  </a:lnTo>
                  <a:lnTo>
                    <a:pt x="643686" y="423714"/>
                  </a:lnTo>
                  <a:lnTo>
                    <a:pt x="627048" y="467347"/>
                  </a:lnTo>
                  <a:lnTo>
                    <a:pt x="604638" y="507752"/>
                  </a:lnTo>
                  <a:lnTo>
                    <a:pt x="576961" y="544422"/>
                  </a:lnTo>
                  <a:lnTo>
                    <a:pt x="544528" y="576846"/>
                  </a:lnTo>
                  <a:lnTo>
                    <a:pt x="507847" y="604517"/>
                  </a:lnTo>
                  <a:lnTo>
                    <a:pt x="467425" y="626924"/>
                  </a:lnTo>
                  <a:lnTo>
                    <a:pt x="423771" y="643559"/>
                  </a:lnTo>
                  <a:lnTo>
                    <a:pt x="377394" y="653914"/>
                  </a:lnTo>
                  <a:lnTo>
                    <a:pt x="328802" y="657479"/>
                  </a:lnTo>
                  <a:lnTo>
                    <a:pt x="280211" y="653914"/>
                  </a:lnTo>
                  <a:lnTo>
                    <a:pt x="233834" y="643559"/>
                  </a:lnTo>
                  <a:lnTo>
                    <a:pt x="190180" y="626924"/>
                  </a:lnTo>
                  <a:lnTo>
                    <a:pt x="149758" y="604517"/>
                  </a:lnTo>
                  <a:lnTo>
                    <a:pt x="113077" y="576846"/>
                  </a:lnTo>
                  <a:lnTo>
                    <a:pt x="80644" y="544422"/>
                  </a:lnTo>
                  <a:lnTo>
                    <a:pt x="52967" y="507752"/>
                  </a:lnTo>
                  <a:lnTo>
                    <a:pt x="30557" y="467347"/>
                  </a:lnTo>
                  <a:lnTo>
                    <a:pt x="13919" y="423714"/>
                  </a:lnTo>
                  <a:lnTo>
                    <a:pt x="3564" y="377363"/>
                  </a:lnTo>
                  <a:lnTo>
                    <a:pt x="0" y="328803"/>
                  </a:lnTo>
                  <a:close/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2" name="Google Shape;232;p10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8651747" y="3934955"/>
              <a:ext cx="1609344" cy="20924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3" name="Google Shape;233;p10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8688323" y="4864582"/>
              <a:ext cx="1575816" cy="6507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4" name="Google Shape;234;p10"/>
            <p:cNvSpPr/>
            <p:nvPr/>
          </p:nvSpPr>
          <p:spPr>
            <a:xfrm>
              <a:off x="8713215" y="3976115"/>
              <a:ext cx="1490345" cy="1974850"/>
            </a:xfrm>
            <a:custGeom>
              <a:rect b="b" l="l" r="r" t="t"/>
              <a:pathLst>
                <a:path extrusionOk="0" h="1974850" w="1490345">
                  <a:moveTo>
                    <a:pt x="1341119" y="0"/>
                  </a:moveTo>
                  <a:lnTo>
                    <a:pt x="148970" y="0"/>
                  </a:lnTo>
                  <a:lnTo>
                    <a:pt x="101876" y="7592"/>
                  </a:lnTo>
                  <a:lnTo>
                    <a:pt x="60981" y="28736"/>
                  </a:lnTo>
                  <a:lnTo>
                    <a:pt x="28736" y="60981"/>
                  </a:lnTo>
                  <a:lnTo>
                    <a:pt x="7592" y="101876"/>
                  </a:lnTo>
                  <a:lnTo>
                    <a:pt x="0" y="148970"/>
                  </a:lnTo>
                  <a:lnTo>
                    <a:pt x="0" y="1825637"/>
                  </a:lnTo>
                  <a:lnTo>
                    <a:pt x="7592" y="1872742"/>
                  </a:lnTo>
                  <a:lnTo>
                    <a:pt x="28736" y="1913650"/>
                  </a:lnTo>
                  <a:lnTo>
                    <a:pt x="60981" y="1945908"/>
                  </a:lnTo>
                  <a:lnTo>
                    <a:pt x="101876" y="1967062"/>
                  </a:lnTo>
                  <a:lnTo>
                    <a:pt x="148970" y="1974659"/>
                  </a:lnTo>
                  <a:lnTo>
                    <a:pt x="1341119" y="1974659"/>
                  </a:lnTo>
                  <a:lnTo>
                    <a:pt x="1388227" y="1967062"/>
                  </a:lnTo>
                  <a:lnTo>
                    <a:pt x="1429154" y="1945908"/>
                  </a:lnTo>
                  <a:lnTo>
                    <a:pt x="1461436" y="1913650"/>
                  </a:lnTo>
                  <a:lnTo>
                    <a:pt x="1482612" y="1872742"/>
                  </a:lnTo>
                  <a:lnTo>
                    <a:pt x="1490217" y="1825637"/>
                  </a:lnTo>
                  <a:lnTo>
                    <a:pt x="1490217" y="148970"/>
                  </a:lnTo>
                  <a:lnTo>
                    <a:pt x="1482612" y="101876"/>
                  </a:lnTo>
                  <a:lnTo>
                    <a:pt x="1461436" y="60981"/>
                  </a:lnTo>
                  <a:lnTo>
                    <a:pt x="1429154" y="28736"/>
                  </a:lnTo>
                  <a:lnTo>
                    <a:pt x="1388227" y="7592"/>
                  </a:lnTo>
                  <a:lnTo>
                    <a:pt x="1341119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0"/>
            <p:cNvSpPr/>
            <p:nvPr/>
          </p:nvSpPr>
          <p:spPr>
            <a:xfrm>
              <a:off x="8713215" y="3976115"/>
              <a:ext cx="1490345" cy="1974850"/>
            </a:xfrm>
            <a:custGeom>
              <a:rect b="b" l="l" r="r" t="t"/>
              <a:pathLst>
                <a:path extrusionOk="0" h="1974850" w="1490345">
                  <a:moveTo>
                    <a:pt x="0" y="148970"/>
                  </a:moveTo>
                  <a:lnTo>
                    <a:pt x="7592" y="101876"/>
                  </a:lnTo>
                  <a:lnTo>
                    <a:pt x="28736" y="60981"/>
                  </a:lnTo>
                  <a:lnTo>
                    <a:pt x="60981" y="28736"/>
                  </a:lnTo>
                  <a:lnTo>
                    <a:pt x="101876" y="7592"/>
                  </a:lnTo>
                  <a:lnTo>
                    <a:pt x="148970" y="0"/>
                  </a:lnTo>
                  <a:lnTo>
                    <a:pt x="1341119" y="0"/>
                  </a:lnTo>
                  <a:lnTo>
                    <a:pt x="1388227" y="7592"/>
                  </a:lnTo>
                  <a:lnTo>
                    <a:pt x="1429154" y="28736"/>
                  </a:lnTo>
                  <a:lnTo>
                    <a:pt x="1461436" y="60981"/>
                  </a:lnTo>
                  <a:lnTo>
                    <a:pt x="1482612" y="101876"/>
                  </a:lnTo>
                  <a:lnTo>
                    <a:pt x="1490217" y="148970"/>
                  </a:lnTo>
                  <a:lnTo>
                    <a:pt x="1490217" y="1825637"/>
                  </a:lnTo>
                  <a:lnTo>
                    <a:pt x="1482612" y="1872742"/>
                  </a:lnTo>
                  <a:lnTo>
                    <a:pt x="1461436" y="1913650"/>
                  </a:lnTo>
                  <a:lnTo>
                    <a:pt x="1429154" y="1945908"/>
                  </a:lnTo>
                  <a:lnTo>
                    <a:pt x="1388227" y="1967062"/>
                  </a:lnTo>
                  <a:lnTo>
                    <a:pt x="1341119" y="1974659"/>
                  </a:lnTo>
                  <a:lnTo>
                    <a:pt x="148970" y="1974659"/>
                  </a:lnTo>
                  <a:lnTo>
                    <a:pt x="101876" y="1967062"/>
                  </a:lnTo>
                  <a:lnTo>
                    <a:pt x="60981" y="1945908"/>
                  </a:lnTo>
                  <a:lnTo>
                    <a:pt x="28736" y="1913650"/>
                  </a:lnTo>
                  <a:lnTo>
                    <a:pt x="7592" y="1872742"/>
                  </a:lnTo>
                  <a:lnTo>
                    <a:pt x="0" y="1825637"/>
                  </a:lnTo>
                  <a:lnTo>
                    <a:pt x="0" y="148970"/>
                  </a:lnTo>
                  <a:close/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6" name="Google Shape;236;p10"/>
          <p:cNvSpPr txBox="1"/>
          <p:nvPr/>
        </p:nvSpPr>
        <p:spPr>
          <a:xfrm>
            <a:off x="8724900" y="4838313"/>
            <a:ext cx="14322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275">
            <a:spAutoFit/>
          </a:bodyPr>
          <a:lstStyle/>
          <a:p>
            <a:pPr indent="0" lvl="0" marL="12065" marR="5080" rtl="0" algn="ctr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</a:rPr>
              <a:t>ECONOMIC</a:t>
            </a:r>
            <a:endParaRPr b="1" sz="1000">
              <a:solidFill>
                <a:srgbClr val="FFFFFF"/>
              </a:solidFill>
            </a:endParaRPr>
          </a:p>
          <a:p>
            <a:pPr indent="0" lvl="0" marL="12065" marR="5080" rtl="0" algn="ctr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</a:rPr>
              <a:t>Low infrastructure cost</a:t>
            </a:r>
            <a:endParaRPr sz="1000">
              <a:solidFill>
                <a:srgbClr val="FFFFFF"/>
              </a:solidFill>
            </a:endParaRPr>
          </a:p>
          <a:p>
            <a:pPr indent="0" lvl="0" marL="12065" marR="5080" rtl="0" algn="ctr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</a:rPr>
              <a:t>Single PostgreSQL prototype</a:t>
            </a:r>
            <a:endParaRPr sz="1000">
              <a:solidFill>
                <a:srgbClr val="FFFFFF"/>
              </a:solidFill>
            </a:endParaRPr>
          </a:p>
        </p:txBody>
      </p:sp>
      <p:grpSp>
        <p:nvGrpSpPr>
          <p:cNvPr id="237" name="Google Shape;237;p10"/>
          <p:cNvGrpSpPr/>
          <p:nvPr/>
        </p:nvGrpSpPr>
        <p:grpSpPr>
          <a:xfrm>
            <a:off x="9067800" y="3934955"/>
            <a:ext cx="2718816" cy="2092452"/>
            <a:chOff x="9067800" y="3934955"/>
            <a:chExt cx="2718816" cy="2092452"/>
          </a:xfrm>
        </p:grpSpPr>
        <p:pic>
          <p:nvPicPr>
            <p:cNvPr id="238" name="Google Shape;238;p10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9067800" y="4052290"/>
              <a:ext cx="775703" cy="7772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9" name="Google Shape;239;p10"/>
            <p:cNvSpPr/>
            <p:nvPr/>
          </p:nvSpPr>
          <p:spPr>
            <a:xfrm>
              <a:off x="9229128" y="4187431"/>
              <a:ext cx="467359" cy="474345"/>
            </a:xfrm>
            <a:custGeom>
              <a:rect b="b" l="l" r="r" t="t"/>
              <a:pathLst>
                <a:path extrusionOk="0" h="474345" w="467359">
                  <a:moveTo>
                    <a:pt x="182841" y="257479"/>
                  </a:moveTo>
                  <a:lnTo>
                    <a:pt x="81267" y="257479"/>
                  </a:lnTo>
                  <a:lnTo>
                    <a:pt x="81267" y="393001"/>
                  </a:lnTo>
                  <a:lnTo>
                    <a:pt x="182841" y="393001"/>
                  </a:lnTo>
                  <a:lnTo>
                    <a:pt x="182841" y="257479"/>
                  </a:lnTo>
                  <a:close/>
                </a:path>
                <a:path extrusionOk="0" h="474345" w="467359">
                  <a:moveTo>
                    <a:pt x="325069" y="135521"/>
                  </a:moveTo>
                  <a:lnTo>
                    <a:pt x="223481" y="135521"/>
                  </a:lnTo>
                  <a:lnTo>
                    <a:pt x="223481" y="393001"/>
                  </a:lnTo>
                  <a:lnTo>
                    <a:pt x="325069" y="393001"/>
                  </a:lnTo>
                  <a:lnTo>
                    <a:pt x="325069" y="135521"/>
                  </a:lnTo>
                  <a:close/>
                </a:path>
                <a:path extrusionOk="0" h="474345" w="467359">
                  <a:moveTo>
                    <a:pt x="467283" y="433654"/>
                  </a:moveTo>
                  <a:lnTo>
                    <a:pt x="40627" y="433654"/>
                  </a:lnTo>
                  <a:lnTo>
                    <a:pt x="40627" y="0"/>
                  </a:lnTo>
                  <a:lnTo>
                    <a:pt x="1295" y="0"/>
                  </a:lnTo>
                  <a:lnTo>
                    <a:pt x="0" y="1295"/>
                  </a:lnTo>
                  <a:lnTo>
                    <a:pt x="0" y="470560"/>
                  </a:lnTo>
                  <a:lnTo>
                    <a:pt x="3746" y="474319"/>
                  </a:lnTo>
                  <a:lnTo>
                    <a:pt x="454634" y="474319"/>
                  </a:lnTo>
                  <a:lnTo>
                    <a:pt x="467283" y="461670"/>
                  </a:lnTo>
                  <a:lnTo>
                    <a:pt x="467283" y="433654"/>
                  </a:lnTo>
                  <a:close/>
                </a:path>
                <a:path extrusionOk="0" h="474345" w="467359">
                  <a:moveTo>
                    <a:pt x="467283" y="10185"/>
                  </a:moveTo>
                  <a:lnTo>
                    <a:pt x="457085" y="0"/>
                  </a:lnTo>
                  <a:lnTo>
                    <a:pt x="365696" y="0"/>
                  </a:lnTo>
                  <a:lnTo>
                    <a:pt x="365696" y="393001"/>
                  </a:lnTo>
                  <a:lnTo>
                    <a:pt x="467283" y="393001"/>
                  </a:lnTo>
                  <a:lnTo>
                    <a:pt x="467283" y="10185"/>
                  </a:lnTo>
                  <a:close/>
                </a:path>
              </a:pathLst>
            </a:custGeom>
            <a:solidFill>
              <a:srgbClr val="C2CDE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0" name="Google Shape;240;p10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9307621" y="4187421"/>
              <a:ext cx="219488" cy="2196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10"/>
            <p:cNvSpPr/>
            <p:nvPr/>
          </p:nvSpPr>
          <p:spPr>
            <a:xfrm>
              <a:off x="9129522" y="4094606"/>
              <a:ext cx="657860" cy="657860"/>
            </a:xfrm>
            <a:custGeom>
              <a:rect b="b" l="l" r="r" t="t"/>
              <a:pathLst>
                <a:path extrusionOk="0" h="657860" w="657859">
                  <a:moveTo>
                    <a:pt x="0" y="328803"/>
                  </a:moveTo>
                  <a:lnTo>
                    <a:pt x="3564" y="280211"/>
                  </a:lnTo>
                  <a:lnTo>
                    <a:pt x="13919" y="233834"/>
                  </a:lnTo>
                  <a:lnTo>
                    <a:pt x="30557" y="190180"/>
                  </a:lnTo>
                  <a:lnTo>
                    <a:pt x="52967" y="149758"/>
                  </a:lnTo>
                  <a:lnTo>
                    <a:pt x="80644" y="113077"/>
                  </a:lnTo>
                  <a:lnTo>
                    <a:pt x="113077" y="80644"/>
                  </a:lnTo>
                  <a:lnTo>
                    <a:pt x="149758" y="52967"/>
                  </a:lnTo>
                  <a:lnTo>
                    <a:pt x="190180" y="30557"/>
                  </a:lnTo>
                  <a:lnTo>
                    <a:pt x="233834" y="13919"/>
                  </a:lnTo>
                  <a:lnTo>
                    <a:pt x="280211" y="3564"/>
                  </a:lnTo>
                  <a:lnTo>
                    <a:pt x="328802" y="0"/>
                  </a:lnTo>
                  <a:lnTo>
                    <a:pt x="377394" y="3564"/>
                  </a:lnTo>
                  <a:lnTo>
                    <a:pt x="423771" y="13919"/>
                  </a:lnTo>
                  <a:lnTo>
                    <a:pt x="467425" y="30557"/>
                  </a:lnTo>
                  <a:lnTo>
                    <a:pt x="507847" y="52967"/>
                  </a:lnTo>
                  <a:lnTo>
                    <a:pt x="544528" y="80644"/>
                  </a:lnTo>
                  <a:lnTo>
                    <a:pt x="576961" y="113077"/>
                  </a:lnTo>
                  <a:lnTo>
                    <a:pt x="604638" y="149758"/>
                  </a:lnTo>
                  <a:lnTo>
                    <a:pt x="627048" y="190180"/>
                  </a:lnTo>
                  <a:lnTo>
                    <a:pt x="643686" y="233834"/>
                  </a:lnTo>
                  <a:lnTo>
                    <a:pt x="654041" y="280211"/>
                  </a:lnTo>
                  <a:lnTo>
                    <a:pt x="657605" y="328803"/>
                  </a:lnTo>
                  <a:lnTo>
                    <a:pt x="654041" y="377363"/>
                  </a:lnTo>
                  <a:lnTo>
                    <a:pt x="643686" y="423714"/>
                  </a:lnTo>
                  <a:lnTo>
                    <a:pt x="627048" y="467347"/>
                  </a:lnTo>
                  <a:lnTo>
                    <a:pt x="604638" y="507752"/>
                  </a:lnTo>
                  <a:lnTo>
                    <a:pt x="576961" y="544422"/>
                  </a:lnTo>
                  <a:lnTo>
                    <a:pt x="544528" y="576846"/>
                  </a:lnTo>
                  <a:lnTo>
                    <a:pt x="507847" y="604517"/>
                  </a:lnTo>
                  <a:lnTo>
                    <a:pt x="467425" y="626924"/>
                  </a:lnTo>
                  <a:lnTo>
                    <a:pt x="423771" y="643559"/>
                  </a:lnTo>
                  <a:lnTo>
                    <a:pt x="377394" y="653914"/>
                  </a:lnTo>
                  <a:lnTo>
                    <a:pt x="328802" y="657479"/>
                  </a:lnTo>
                  <a:lnTo>
                    <a:pt x="280211" y="653914"/>
                  </a:lnTo>
                  <a:lnTo>
                    <a:pt x="233834" y="643559"/>
                  </a:lnTo>
                  <a:lnTo>
                    <a:pt x="190180" y="626924"/>
                  </a:lnTo>
                  <a:lnTo>
                    <a:pt x="149758" y="604517"/>
                  </a:lnTo>
                  <a:lnTo>
                    <a:pt x="113077" y="576846"/>
                  </a:lnTo>
                  <a:lnTo>
                    <a:pt x="80644" y="544422"/>
                  </a:lnTo>
                  <a:lnTo>
                    <a:pt x="52967" y="507752"/>
                  </a:lnTo>
                  <a:lnTo>
                    <a:pt x="30557" y="467347"/>
                  </a:lnTo>
                  <a:lnTo>
                    <a:pt x="13919" y="423714"/>
                  </a:lnTo>
                  <a:lnTo>
                    <a:pt x="3564" y="377363"/>
                  </a:lnTo>
                  <a:lnTo>
                    <a:pt x="0" y="328803"/>
                  </a:lnTo>
                  <a:close/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2" name="Google Shape;242;p10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10177272" y="3934955"/>
              <a:ext cx="1609344" cy="20924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3" name="Google Shape;243;p10"/>
            <p:cNvSpPr/>
            <p:nvPr/>
          </p:nvSpPr>
          <p:spPr>
            <a:xfrm>
              <a:off x="10238613" y="3976115"/>
              <a:ext cx="1490345" cy="1974850"/>
            </a:xfrm>
            <a:custGeom>
              <a:rect b="b" l="l" r="r" t="t"/>
              <a:pathLst>
                <a:path extrusionOk="0" h="1974850" w="1490345">
                  <a:moveTo>
                    <a:pt x="1341119" y="0"/>
                  </a:moveTo>
                  <a:lnTo>
                    <a:pt x="148970" y="0"/>
                  </a:lnTo>
                  <a:lnTo>
                    <a:pt x="101876" y="7592"/>
                  </a:lnTo>
                  <a:lnTo>
                    <a:pt x="60981" y="28736"/>
                  </a:lnTo>
                  <a:lnTo>
                    <a:pt x="28736" y="60981"/>
                  </a:lnTo>
                  <a:lnTo>
                    <a:pt x="7592" y="101876"/>
                  </a:lnTo>
                  <a:lnTo>
                    <a:pt x="0" y="148970"/>
                  </a:lnTo>
                  <a:lnTo>
                    <a:pt x="0" y="1825637"/>
                  </a:lnTo>
                  <a:lnTo>
                    <a:pt x="7592" y="1872742"/>
                  </a:lnTo>
                  <a:lnTo>
                    <a:pt x="28736" y="1913650"/>
                  </a:lnTo>
                  <a:lnTo>
                    <a:pt x="60981" y="1945908"/>
                  </a:lnTo>
                  <a:lnTo>
                    <a:pt x="101876" y="1967062"/>
                  </a:lnTo>
                  <a:lnTo>
                    <a:pt x="148970" y="1974659"/>
                  </a:lnTo>
                  <a:lnTo>
                    <a:pt x="1341119" y="1974659"/>
                  </a:lnTo>
                  <a:lnTo>
                    <a:pt x="1388214" y="1967062"/>
                  </a:lnTo>
                  <a:lnTo>
                    <a:pt x="1429109" y="1945908"/>
                  </a:lnTo>
                  <a:lnTo>
                    <a:pt x="1461354" y="1913650"/>
                  </a:lnTo>
                  <a:lnTo>
                    <a:pt x="1482498" y="1872742"/>
                  </a:lnTo>
                  <a:lnTo>
                    <a:pt x="1490090" y="1825637"/>
                  </a:lnTo>
                  <a:lnTo>
                    <a:pt x="1490090" y="148970"/>
                  </a:lnTo>
                  <a:lnTo>
                    <a:pt x="1482498" y="101876"/>
                  </a:lnTo>
                  <a:lnTo>
                    <a:pt x="1461354" y="60981"/>
                  </a:lnTo>
                  <a:lnTo>
                    <a:pt x="1429109" y="28736"/>
                  </a:lnTo>
                  <a:lnTo>
                    <a:pt x="1388214" y="7592"/>
                  </a:lnTo>
                  <a:lnTo>
                    <a:pt x="1341119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0"/>
            <p:cNvSpPr/>
            <p:nvPr/>
          </p:nvSpPr>
          <p:spPr>
            <a:xfrm>
              <a:off x="10238613" y="3976115"/>
              <a:ext cx="1490345" cy="1974850"/>
            </a:xfrm>
            <a:custGeom>
              <a:rect b="b" l="l" r="r" t="t"/>
              <a:pathLst>
                <a:path extrusionOk="0" h="1974850" w="1490345">
                  <a:moveTo>
                    <a:pt x="0" y="148970"/>
                  </a:moveTo>
                  <a:lnTo>
                    <a:pt x="7592" y="101876"/>
                  </a:lnTo>
                  <a:lnTo>
                    <a:pt x="28736" y="60981"/>
                  </a:lnTo>
                  <a:lnTo>
                    <a:pt x="60981" y="28736"/>
                  </a:lnTo>
                  <a:lnTo>
                    <a:pt x="101876" y="7592"/>
                  </a:lnTo>
                  <a:lnTo>
                    <a:pt x="148970" y="0"/>
                  </a:lnTo>
                  <a:lnTo>
                    <a:pt x="1341119" y="0"/>
                  </a:lnTo>
                  <a:lnTo>
                    <a:pt x="1388214" y="7592"/>
                  </a:lnTo>
                  <a:lnTo>
                    <a:pt x="1429109" y="28736"/>
                  </a:lnTo>
                  <a:lnTo>
                    <a:pt x="1461354" y="60981"/>
                  </a:lnTo>
                  <a:lnTo>
                    <a:pt x="1482498" y="101876"/>
                  </a:lnTo>
                  <a:lnTo>
                    <a:pt x="1490090" y="148970"/>
                  </a:lnTo>
                  <a:lnTo>
                    <a:pt x="1490090" y="1825637"/>
                  </a:lnTo>
                  <a:lnTo>
                    <a:pt x="1482498" y="1872742"/>
                  </a:lnTo>
                  <a:lnTo>
                    <a:pt x="1461354" y="1913650"/>
                  </a:lnTo>
                  <a:lnTo>
                    <a:pt x="1429109" y="1945908"/>
                  </a:lnTo>
                  <a:lnTo>
                    <a:pt x="1388214" y="1967062"/>
                  </a:lnTo>
                  <a:lnTo>
                    <a:pt x="1341119" y="1974659"/>
                  </a:lnTo>
                  <a:lnTo>
                    <a:pt x="148970" y="1974659"/>
                  </a:lnTo>
                  <a:lnTo>
                    <a:pt x="101876" y="1967062"/>
                  </a:lnTo>
                  <a:lnTo>
                    <a:pt x="60981" y="1945908"/>
                  </a:lnTo>
                  <a:lnTo>
                    <a:pt x="28736" y="1913650"/>
                  </a:lnTo>
                  <a:lnTo>
                    <a:pt x="7592" y="1872742"/>
                  </a:lnTo>
                  <a:lnTo>
                    <a:pt x="0" y="1825637"/>
                  </a:lnTo>
                  <a:lnTo>
                    <a:pt x="0" y="148970"/>
                  </a:lnTo>
                  <a:close/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5" name="Google Shape;245;p10"/>
          <p:cNvSpPr txBox="1"/>
          <p:nvPr/>
        </p:nvSpPr>
        <p:spPr>
          <a:xfrm>
            <a:off x="10264150" y="4822425"/>
            <a:ext cx="13524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07645" rtl="0" algn="l">
              <a:lnSpc>
                <a:spcPct val="104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</a:rPr>
              <a:t>LEGAL &amp; GOVERNANCE</a:t>
            </a:r>
            <a:endParaRPr b="1" sz="1000">
              <a:solidFill>
                <a:srgbClr val="FFFFFF"/>
              </a:solidFill>
            </a:endParaRPr>
          </a:p>
          <a:p>
            <a:pPr indent="0" lvl="0" marL="207645" rtl="0" algn="l">
              <a:lnSpc>
                <a:spcPct val="104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</a:rPr>
              <a:t>Lawful data only</a:t>
            </a:r>
            <a:endParaRPr sz="1000">
              <a:solidFill>
                <a:srgbClr val="FFFFFF"/>
              </a:solidFill>
            </a:endParaRPr>
          </a:p>
          <a:p>
            <a:pPr indent="0" lvl="0" marL="207645" rtl="0" algn="l">
              <a:lnSpc>
                <a:spcPct val="10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</a:rPr>
              <a:t>Provenance &amp; audit trail</a:t>
            </a:r>
            <a:endParaRPr sz="1000">
              <a:solidFill>
                <a:srgbClr val="FFFFFF"/>
              </a:solidFill>
            </a:endParaRPr>
          </a:p>
        </p:txBody>
      </p:sp>
      <p:grpSp>
        <p:nvGrpSpPr>
          <p:cNvPr id="246" name="Google Shape;246;p10"/>
          <p:cNvGrpSpPr/>
          <p:nvPr/>
        </p:nvGrpSpPr>
        <p:grpSpPr>
          <a:xfrm>
            <a:off x="5824728" y="4052290"/>
            <a:ext cx="5728716" cy="1877594"/>
            <a:chOff x="5824728" y="4052290"/>
            <a:chExt cx="5728716" cy="1877594"/>
          </a:xfrm>
        </p:grpSpPr>
        <p:pic>
          <p:nvPicPr>
            <p:cNvPr id="247" name="Google Shape;247;p10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10602468" y="4052290"/>
              <a:ext cx="777265" cy="7772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10"/>
            <p:cNvSpPr/>
            <p:nvPr/>
          </p:nvSpPr>
          <p:spPr>
            <a:xfrm>
              <a:off x="10716647" y="4211815"/>
              <a:ext cx="576580" cy="431165"/>
            </a:xfrm>
            <a:custGeom>
              <a:rect b="b" l="l" r="r" t="t"/>
              <a:pathLst>
                <a:path extrusionOk="0" h="431164" w="576579">
                  <a:moveTo>
                    <a:pt x="70431" y="0"/>
                  </a:moveTo>
                  <a:lnTo>
                    <a:pt x="64336" y="5420"/>
                  </a:lnTo>
                  <a:lnTo>
                    <a:pt x="66367" y="10841"/>
                  </a:lnTo>
                  <a:lnTo>
                    <a:pt x="93456" y="87410"/>
                  </a:lnTo>
                  <a:lnTo>
                    <a:pt x="62029" y="129812"/>
                  </a:lnTo>
                  <a:lnTo>
                    <a:pt x="52886" y="149558"/>
                  </a:lnTo>
                  <a:lnTo>
                    <a:pt x="52823" y="149748"/>
                  </a:lnTo>
                  <a:lnTo>
                    <a:pt x="49437" y="152459"/>
                  </a:lnTo>
                  <a:lnTo>
                    <a:pt x="44696" y="153814"/>
                  </a:lnTo>
                  <a:lnTo>
                    <a:pt x="20316" y="159912"/>
                  </a:lnTo>
                  <a:lnTo>
                    <a:pt x="11999" y="163374"/>
                  </a:lnTo>
                  <a:lnTo>
                    <a:pt x="5587" y="169314"/>
                  </a:lnTo>
                  <a:lnTo>
                    <a:pt x="1460" y="177159"/>
                  </a:lnTo>
                  <a:lnTo>
                    <a:pt x="0" y="186339"/>
                  </a:lnTo>
                  <a:lnTo>
                    <a:pt x="0" y="239191"/>
                  </a:lnTo>
                  <a:lnTo>
                    <a:pt x="45374" y="271716"/>
                  </a:lnTo>
                  <a:lnTo>
                    <a:pt x="49437" y="273071"/>
                  </a:lnTo>
                  <a:lnTo>
                    <a:pt x="52823" y="275782"/>
                  </a:lnTo>
                  <a:lnTo>
                    <a:pt x="54855" y="279847"/>
                  </a:lnTo>
                  <a:lnTo>
                    <a:pt x="64600" y="299137"/>
                  </a:lnTo>
                  <a:lnTo>
                    <a:pt x="76441" y="317284"/>
                  </a:lnTo>
                  <a:lnTo>
                    <a:pt x="90187" y="334161"/>
                  </a:lnTo>
                  <a:lnTo>
                    <a:pt x="107678" y="351672"/>
                  </a:lnTo>
                  <a:lnTo>
                    <a:pt x="109710" y="354383"/>
                  </a:lnTo>
                  <a:lnTo>
                    <a:pt x="110387" y="357771"/>
                  </a:lnTo>
                  <a:lnTo>
                    <a:pt x="120546" y="419432"/>
                  </a:lnTo>
                  <a:lnTo>
                    <a:pt x="121900" y="426208"/>
                  </a:lnTo>
                  <a:lnTo>
                    <a:pt x="127318" y="430951"/>
                  </a:lnTo>
                  <a:lnTo>
                    <a:pt x="185559" y="430951"/>
                  </a:lnTo>
                  <a:lnTo>
                    <a:pt x="190977" y="426208"/>
                  </a:lnTo>
                  <a:lnTo>
                    <a:pt x="192331" y="419432"/>
                  </a:lnTo>
                  <a:lnTo>
                    <a:pt x="195718" y="397749"/>
                  </a:lnTo>
                  <a:lnTo>
                    <a:pt x="293584" y="397749"/>
                  </a:lnTo>
                  <a:lnTo>
                    <a:pt x="299333" y="396394"/>
                  </a:lnTo>
                  <a:lnTo>
                    <a:pt x="378977" y="396394"/>
                  </a:lnTo>
                  <a:lnTo>
                    <a:pt x="385340" y="357771"/>
                  </a:lnTo>
                  <a:lnTo>
                    <a:pt x="386018" y="354383"/>
                  </a:lnTo>
                  <a:lnTo>
                    <a:pt x="387372" y="351672"/>
                  </a:lnTo>
                  <a:lnTo>
                    <a:pt x="390081" y="349640"/>
                  </a:lnTo>
                  <a:lnTo>
                    <a:pt x="418514" y="320630"/>
                  </a:lnTo>
                  <a:lnTo>
                    <a:pt x="440788" y="287809"/>
                  </a:lnTo>
                  <a:lnTo>
                    <a:pt x="455317" y="251685"/>
                  </a:lnTo>
                  <a:lnTo>
                    <a:pt x="460512" y="212765"/>
                  </a:lnTo>
                  <a:lnTo>
                    <a:pt x="460406" y="209208"/>
                  </a:lnTo>
                  <a:lnTo>
                    <a:pt x="460310" y="205989"/>
                  </a:lnTo>
                  <a:lnTo>
                    <a:pt x="460258" y="204242"/>
                  </a:lnTo>
                  <a:lnTo>
                    <a:pt x="459496" y="195910"/>
                  </a:lnTo>
                  <a:lnTo>
                    <a:pt x="458226" y="187705"/>
                  </a:lnTo>
                  <a:lnTo>
                    <a:pt x="456449" y="179563"/>
                  </a:lnTo>
                  <a:lnTo>
                    <a:pt x="462650" y="177678"/>
                  </a:lnTo>
                  <a:lnTo>
                    <a:pt x="468977" y="176175"/>
                  </a:lnTo>
                  <a:lnTo>
                    <a:pt x="475305" y="175180"/>
                  </a:lnTo>
                  <a:lnTo>
                    <a:pt x="481506" y="174820"/>
                  </a:lnTo>
                  <a:lnTo>
                    <a:pt x="547901" y="174820"/>
                  </a:lnTo>
                  <a:lnTo>
                    <a:pt x="547324" y="173782"/>
                  </a:lnTo>
                  <a:lnTo>
                    <a:pt x="541102" y="166689"/>
                  </a:lnTo>
                  <a:lnTo>
                    <a:pt x="547874" y="165333"/>
                  </a:lnTo>
                  <a:lnTo>
                    <a:pt x="553969" y="164656"/>
                  </a:lnTo>
                  <a:lnTo>
                    <a:pt x="570053" y="164656"/>
                  </a:lnTo>
                  <a:lnTo>
                    <a:pt x="574286" y="161268"/>
                  </a:lnTo>
                  <a:lnTo>
                    <a:pt x="575640" y="153814"/>
                  </a:lnTo>
                  <a:lnTo>
                    <a:pt x="448322" y="153814"/>
                  </a:lnTo>
                  <a:lnTo>
                    <a:pt x="422891" y="111071"/>
                  </a:lnTo>
                  <a:lnTo>
                    <a:pt x="405981" y="94186"/>
                  </a:lnTo>
                  <a:lnTo>
                    <a:pt x="316263" y="94186"/>
                  </a:lnTo>
                  <a:lnTo>
                    <a:pt x="314232" y="93508"/>
                  </a:lnTo>
                  <a:lnTo>
                    <a:pt x="312877" y="92830"/>
                  </a:lnTo>
                  <a:lnTo>
                    <a:pt x="296296" y="86107"/>
                  </a:lnTo>
                  <a:lnTo>
                    <a:pt x="291384" y="84699"/>
                  </a:lnTo>
                  <a:lnTo>
                    <a:pt x="199103" y="84699"/>
                  </a:lnTo>
                  <a:lnTo>
                    <a:pt x="191654" y="80634"/>
                  </a:lnTo>
                  <a:lnTo>
                    <a:pt x="187591" y="65726"/>
                  </a:lnTo>
                  <a:lnTo>
                    <a:pt x="191654" y="58273"/>
                  </a:lnTo>
                  <a:lnTo>
                    <a:pt x="199103" y="56240"/>
                  </a:lnTo>
                  <a:lnTo>
                    <a:pt x="210383" y="53572"/>
                  </a:lnTo>
                  <a:lnTo>
                    <a:pt x="221790" y="51666"/>
                  </a:lnTo>
                  <a:lnTo>
                    <a:pt x="233197" y="50523"/>
                  </a:lnTo>
                  <a:lnTo>
                    <a:pt x="244477" y="50142"/>
                  </a:lnTo>
                  <a:lnTo>
                    <a:pt x="347524" y="50142"/>
                  </a:lnTo>
                  <a:lnTo>
                    <a:pt x="342902" y="47215"/>
                  </a:lnTo>
                  <a:lnTo>
                    <a:pt x="328731" y="42011"/>
                  </a:lnTo>
                  <a:lnTo>
                    <a:pt x="159147" y="42011"/>
                  </a:lnTo>
                  <a:lnTo>
                    <a:pt x="75848" y="2710"/>
                  </a:lnTo>
                  <a:lnTo>
                    <a:pt x="70431" y="0"/>
                  </a:lnTo>
                  <a:close/>
                </a:path>
                <a:path extrusionOk="0" h="431164" w="576579">
                  <a:moveTo>
                    <a:pt x="378977" y="396394"/>
                  </a:moveTo>
                  <a:lnTo>
                    <a:pt x="299333" y="396394"/>
                  </a:lnTo>
                  <a:lnTo>
                    <a:pt x="303396" y="419432"/>
                  </a:lnTo>
                  <a:lnTo>
                    <a:pt x="304751" y="426208"/>
                  </a:lnTo>
                  <a:lnTo>
                    <a:pt x="310169" y="430951"/>
                  </a:lnTo>
                  <a:lnTo>
                    <a:pt x="368410" y="430951"/>
                  </a:lnTo>
                  <a:lnTo>
                    <a:pt x="373828" y="426208"/>
                  </a:lnTo>
                  <a:lnTo>
                    <a:pt x="375182" y="419432"/>
                  </a:lnTo>
                  <a:lnTo>
                    <a:pt x="378977" y="396394"/>
                  </a:lnTo>
                  <a:close/>
                </a:path>
                <a:path extrusionOk="0" h="431164" w="576579">
                  <a:moveTo>
                    <a:pt x="293584" y="397749"/>
                  </a:moveTo>
                  <a:lnTo>
                    <a:pt x="195718" y="397749"/>
                  </a:lnTo>
                  <a:lnTo>
                    <a:pt x="207527" y="400417"/>
                  </a:lnTo>
                  <a:lnTo>
                    <a:pt x="219590" y="402323"/>
                  </a:lnTo>
                  <a:lnTo>
                    <a:pt x="231907" y="403466"/>
                  </a:lnTo>
                  <a:lnTo>
                    <a:pt x="244478" y="403847"/>
                  </a:lnTo>
                  <a:lnTo>
                    <a:pt x="255055" y="403466"/>
                  </a:lnTo>
                  <a:lnTo>
                    <a:pt x="257173" y="403466"/>
                  </a:lnTo>
                  <a:lnTo>
                    <a:pt x="272159" y="401899"/>
                  </a:lnTo>
                  <a:lnTo>
                    <a:pt x="285905" y="399560"/>
                  </a:lnTo>
                  <a:lnTo>
                    <a:pt x="293584" y="397749"/>
                  </a:lnTo>
                  <a:close/>
                </a:path>
                <a:path extrusionOk="0" h="431164" w="576579">
                  <a:moveTo>
                    <a:pt x="547901" y="174820"/>
                  </a:moveTo>
                  <a:lnTo>
                    <a:pt x="481506" y="174820"/>
                  </a:lnTo>
                  <a:lnTo>
                    <a:pt x="478342" y="180537"/>
                  </a:lnTo>
                  <a:lnTo>
                    <a:pt x="476070" y="186339"/>
                  </a:lnTo>
                  <a:lnTo>
                    <a:pt x="476004" y="186508"/>
                  </a:lnTo>
                  <a:lnTo>
                    <a:pt x="474554" y="192734"/>
                  </a:lnTo>
                  <a:lnTo>
                    <a:pt x="474057" y="199213"/>
                  </a:lnTo>
                  <a:lnTo>
                    <a:pt x="474649" y="209208"/>
                  </a:lnTo>
                  <a:lnTo>
                    <a:pt x="500130" y="244019"/>
                  </a:lnTo>
                  <a:lnTo>
                    <a:pt x="514690" y="247323"/>
                  </a:lnTo>
                  <a:lnTo>
                    <a:pt x="530467" y="243628"/>
                  </a:lnTo>
                  <a:lnTo>
                    <a:pt x="543388" y="233517"/>
                  </a:lnTo>
                  <a:lnTo>
                    <a:pt x="551485" y="219541"/>
                  </a:lnTo>
                  <a:lnTo>
                    <a:pt x="511304" y="219541"/>
                  </a:lnTo>
                  <a:lnTo>
                    <a:pt x="508595" y="217508"/>
                  </a:lnTo>
                  <a:lnTo>
                    <a:pt x="503177" y="212088"/>
                  </a:lnTo>
                  <a:lnTo>
                    <a:pt x="501146" y="205989"/>
                  </a:lnTo>
                  <a:lnTo>
                    <a:pt x="501146" y="191082"/>
                  </a:lnTo>
                  <a:lnTo>
                    <a:pt x="507241" y="184306"/>
                  </a:lnTo>
                  <a:lnTo>
                    <a:pt x="512658" y="180240"/>
                  </a:lnTo>
                  <a:lnTo>
                    <a:pt x="513336" y="179563"/>
                  </a:lnTo>
                  <a:lnTo>
                    <a:pt x="550542" y="179563"/>
                  </a:lnTo>
                  <a:lnTo>
                    <a:pt x="547901" y="174820"/>
                  </a:lnTo>
                  <a:close/>
                </a:path>
                <a:path extrusionOk="0" h="431164" w="576579">
                  <a:moveTo>
                    <a:pt x="550542" y="179563"/>
                  </a:moveTo>
                  <a:lnTo>
                    <a:pt x="513336" y="179563"/>
                  </a:lnTo>
                  <a:lnTo>
                    <a:pt x="526203" y="186339"/>
                  </a:lnTo>
                  <a:lnTo>
                    <a:pt x="528120" y="192734"/>
                  </a:lnTo>
                  <a:lnTo>
                    <a:pt x="528235" y="210055"/>
                  </a:lnTo>
                  <a:lnTo>
                    <a:pt x="522140" y="219541"/>
                  </a:lnTo>
                  <a:lnTo>
                    <a:pt x="551485" y="219541"/>
                  </a:lnTo>
                  <a:lnTo>
                    <a:pt x="552117" y="218451"/>
                  </a:lnTo>
                  <a:lnTo>
                    <a:pt x="555324" y="199891"/>
                  </a:lnTo>
                  <a:lnTo>
                    <a:pt x="554489" y="191082"/>
                  </a:lnTo>
                  <a:lnTo>
                    <a:pt x="554435" y="190510"/>
                  </a:lnTo>
                  <a:lnTo>
                    <a:pt x="551768" y="181765"/>
                  </a:lnTo>
                  <a:lnTo>
                    <a:pt x="550542" y="179563"/>
                  </a:lnTo>
                  <a:close/>
                </a:path>
                <a:path extrusionOk="0" h="431164" w="576579">
                  <a:moveTo>
                    <a:pt x="570053" y="164656"/>
                  </a:moveTo>
                  <a:lnTo>
                    <a:pt x="553969" y="164656"/>
                  </a:lnTo>
                  <a:lnTo>
                    <a:pt x="560064" y="165333"/>
                  </a:lnTo>
                  <a:lnTo>
                    <a:pt x="567514" y="166689"/>
                  </a:lnTo>
                  <a:lnTo>
                    <a:pt x="570053" y="164656"/>
                  </a:lnTo>
                  <a:close/>
                </a:path>
                <a:path extrusionOk="0" h="431164" w="576579">
                  <a:moveTo>
                    <a:pt x="481083" y="147716"/>
                  </a:moveTo>
                  <a:lnTo>
                    <a:pt x="464798" y="149558"/>
                  </a:lnTo>
                  <a:lnTo>
                    <a:pt x="448322" y="153814"/>
                  </a:lnTo>
                  <a:lnTo>
                    <a:pt x="575640" y="153814"/>
                  </a:lnTo>
                  <a:lnTo>
                    <a:pt x="576010" y="149749"/>
                  </a:lnTo>
                  <a:lnTo>
                    <a:pt x="509272" y="149749"/>
                  </a:lnTo>
                  <a:lnTo>
                    <a:pt x="496225" y="147906"/>
                  </a:lnTo>
                  <a:lnTo>
                    <a:pt x="481083" y="147716"/>
                  </a:lnTo>
                  <a:close/>
                </a:path>
                <a:path extrusionOk="0" h="431164" w="576579">
                  <a:moveTo>
                    <a:pt x="550795" y="137552"/>
                  </a:moveTo>
                  <a:lnTo>
                    <a:pt x="536700" y="139415"/>
                  </a:lnTo>
                  <a:lnTo>
                    <a:pt x="522605" y="143566"/>
                  </a:lnTo>
                  <a:lnTo>
                    <a:pt x="509272" y="149749"/>
                  </a:lnTo>
                  <a:lnTo>
                    <a:pt x="576010" y="149749"/>
                  </a:lnTo>
                  <a:lnTo>
                    <a:pt x="576177" y="147906"/>
                  </a:lnTo>
                  <a:lnTo>
                    <a:pt x="576194" y="147716"/>
                  </a:lnTo>
                  <a:lnTo>
                    <a:pt x="576317" y="146361"/>
                  </a:lnTo>
                  <a:lnTo>
                    <a:pt x="571577" y="139585"/>
                  </a:lnTo>
                  <a:lnTo>
                    <a:pt x="564127" y="138229"/>
                  </a:lnTo>
                  <a:lnTo>
                    <a:pt x="550795" y="137552"/>
                  </a:lnTo>
                  <a:close/>
                </a:path>
                <a:path extrusionOk="0" h="431164" w="576579">
                  <a:moveTo>
                    <a:pt x="347524" y="50142"/>
                  </a:moveTo>
                  <a:lnTo>
                    <a:pt x="244477" y="50142"/>
                  </a:lnTo>
                  <a:lnTo>
                    <a:pt x="264085" y="51275"/>
                  </a:lnTo>
                  <a:lnTo>
                    <a:pt x="284010" y="54631"/>
                  </a:lnTo>
                  <a:lnTo>
                    <a:pt x="303809" y="60147"/>
                  </a:lnTo>
                  <a:lnTo>
                    <a:pt x="323035" y="67759"/>
                  </a:lnTo>
                  <a:lnTo>
                    <a:pt x="330485" y="71147"/>
                  </a:lnTo>
                  <a:lnTo>
                    <a:pt x="333871" y="79278"/>
                  </a:lnTo>
                  <a:lnTo>
                    <a:pt x="330462" y="86107"/>
                  </a:lnTo>
                  <a:lnTo>
                    <a:pt x="328453" y="90798"/>
                  </a:lnTo>
                  <a:lnTo>
                    <a:pt x="323035" y="94186"/>
                  </a:lnTo>
                  <a:lnTo>
                    <a:pt x="405981" y="94186"/>
                  </a:lnTo>
                  <a:lnTo>
                    <a:pt x="386765" y="74996"/>
                  </a:lnTo>
                  <a:lnTo>
                    <a:pt x="347524" y="50142"/>
                  </a:lnTo>
                  <a:close/>
                </a:path>
                <a:path extrusionOk="0" h="431164" w="576579">
                  <a:moveTo>
                    <a:pt x="245155" y="77246"/>
                  </a:moveTo>
                  <a:lnTo>
                    <a:pt x="206553" y="82666"/>
                  </a:lnTo>
                  <a:lnTo>
                    <a:pt x="199103" y="84699"/>
                  </a:lnTo>
                  <a:lnTo>
                    <a:pt x="291384" y="84699"/>
                  </a:lnTo>
                  <a:lnTo>
                    <a:pt x="279270" y="81227"/>
                  </a:lnTo>
                  <a:lnTo>
                    <a:pt x="262117" y="78251"/>
                  </a:lnTo>
                  <a:lnTo>
                    <a:pt x="245155" y="77246"/>
                  </a:lnTo>
                  <a:close/>
                </a:path>
                <a:path extrusionOk="0" h="431164" w="576579">
                  <a:moveTo>
                    <a:pt x="243800" y="23038"/>
                  </a:moveTo>
                  <a:lnTo>
                    <a:pt x="222002" y="24287"/>
                  </a:lnTo>
                  <a:lnTo>
                    <a:pt x="200458" y="27950"/>
                  </a:lnTo>
                  <a:lnTo>
                    <a:pt x="179421" y="33901"/>
                  </a:lnTo>
                  <a:lnTo>
                    <a:pt x="159147" y="42011"/>
                  </a:lnTo>
                  <a:lnTo>
                    <a:pt x="328731" y="42011"/>
                  </a:lnTo>
                  <a:lnTo>
                    <a:pt x="294261" y="29353"/>
                  </a:lnTo>
                  <a:lnTo>
                    <a:pt x="243800" y="23038"/>
                  </a:lnTo>
                  <a:close/>
                </a:path>
              </a:pathLst>
            </a:custGeom>
            <a:solidFill>
              <a:srgbClr val="C2CDE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0"/>
            <p:cNvSpPr/>
            <p:nvPr/>
          </p:nvSpPr>
          <p:spPr>
            <a:xfrm>
              <a:off x="10664444" y="4094607"/>
              <a:ext cx="657860" cy="657860"/>
            </a:xfrm>
            <a:custGeom>
              <a:rect b="b" l="l" r="r" t="t"/>
              <a:pathLst>
                <a:path extrusionOk="0" h="657860" w="657859">
                  <a:moveTo>
                    <a:pt x="0" y="328803"/>
                  </a:moveTo>
                  <a:lnTo>
                    <a:pt x="3564" y="280211"/>
                  </a:lnTo>
                  <a:lnTo>
                    <a:pt x="13919" y="233834"/>
                  </a:lnTo>
                  <a:lnTo>
                    <a:pt x="30557" y="190180"/>
                  </a:lnTo>
                  <a:lnTo>
                    <a:pt x="52967" y="149758"/>
                  </a:lnTo>
                  <a:lnTo>
                    <a:pt x="80644" y="113077"/>
                  </a:lnTo>
                  <a:lnTo>
                    <a:pt x="113077" y="80644"/>
                  </a:lnTo>
                  <a:lnTo>
                    <a:pt x="149758" y="52967"/>
                  </a:lnTo>
                  <a:lnTo>
                    <a:pt x="190180" y="30557"/>
                  </a:lnTo>
                  <a:lnTo>
                    <a:pt x="233834" y="13919"/>
                  </a:lnTo>
                  <a:lnTo>
                    <a:pt x="280211" y="3564"/>
                  </a:lnTo>
                  <a:lnTo>
                    <a:pt x="328802" y="0"/>
                  </a:lnTo>
                  <a:lnTo>
                    <a:pt x="377363" y="3564"/>
                  </a:lnTo>
                  <a:lnTo>
                    <a:pt x="423714" y="13919"/>
                  </a:lnTo>
                  <a:lnTo>
                    <a:pt x="467347" y="30557"/>
                  </a:lnTo>
                  <a:lnTo>
                    <a:pt x="507752" y="52967"/>
                  </a:lnTo>
                  <a:lnTo>
                    <a:pt x="544422" y="80644"/>
                  </a:lnTo>
                  <a:lnTo>
                    <a:pt x="576846" y="113077"/>
                  </a:lnTo>
                  <a:lnTo>
                    <a:pt x="604517" y="149758"/>
                  </a:lnTo>
                  <a:lnTo>
                    <a:pt x="626924" y="190180"/>
                  </a:lnTo>
                  <a:lnTo>
                    <a:pt x="643559" y="233834"/>
                  </a:lnTo>
                  <a:lnTo>
                    <a:pt x="653914" y="280211"/>
                  </a:lnTo>
                  <a:lnTo>
                    <a:pt x="657478" y="328803"/>
                  </a:lnTo>
                  <a:lnTo>
                    <a:pt x="653914" y="377363"/>
                  </a:lnTo>
                  <a:lnTo>
                    <a:pt x="643559" y="423714"/>
                  </a:lnTo>
                  <a:lnTo>
                    <a:pt x="626924" y="467347"/>
                  </a:lnTo>
                  <a:lnTo>
                    <a:pt x="604517" y="507752"/>
                  </a:lnTo>
                  <a:lnTo>
                    <a:pt x="576846" y="544422"/>
                  </a:lnTo>
                  <a:lnTo>
                    <a:pt x="544422" y="576846"/>
                  </a:lnTo>
                  <a:lnTo>
                    <a:pt x="507752" y="604517"/>
                  </a:lnTo>
                  <a:lnTo>
                    <a:pt x="467347" y="626924"/>
                  </a:lnTo>
                  <a:lnTo>
                    <a:pt x="423714" y="643559"/>
                  </a:lnTo>
                  <a:lnTo>
                    <a:pt x="377363" y="653914"/>
                  </a:lnTo>
                  <a:lnTo>
                    <a:pt x="328802" y="657479"/>
                  </a:lnTo>
                  <a:lnTo>
                    <a:pt x="280211" y="653914"/>
                  </a:lnTo>
                  <a:lnTo>
                    <a:pt x="233834" y="643559"/>
                  </a:lnTo>
                  <a:lnTo>
                    <a:pt x="190180" y="626924"/>
                  </a:lnTo>
                  <a:lnTo>
                    <a:pt x="149758" y="604517"/>
                  </a:lnTo>
                  <a:lnTo>
                    <a:pt x="113077" y="576846"/>
                  </a:lnTo>
                  <a:lnTo>
                    <a:pt x="80644" y="544422"/>
                  </a:lnTo>
                  <a:lnTo>
                    <a:pt x="52967" y="507752"/>
                  </a:lnTo>
                  <a:lnTo>
                    <a:pt x="30557" y="467347"/>
                  </a:lnTo>
                  <a:lnTo>
                    <a:pt x="13919" y="423714"/>
                  </a:lnTo>
                  <a:lnTo>
                    <a:pt x="3564" y="377363"/>
                  </a:lnTo>
                  <a:lnTo>
                    <a:pt x="0" y="328803"/>
                  </a:lnTo>
                  <a:close/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0" name="Google Shape;250;p10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5824728" y="5513832"/>
              <a:ext cx="5728716" cy="4160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1" name="Google Shape;251;p10"/>
            <p:cNvSpPr/>
            <p:nvPr/>
          </p:nvSpPr>
          <p:spPr>
            <a:xfrm>
              <a:off x="5885942" y="5555869"/>
              <a:ext cx="5610225" cy="296545"/>
            </a:xfrm>
            <a:custGeom>
              <a:rect b="b" l="l" r="r" t="t"/>
              <a:pathLst>
                <a:path extrusionOk="0" h="296545" w="5610225">
                  <a:moveTo>
                    <a:pt x="5461762" y="0"/>
                  </a:moveTo>
                  <a:lnTo>
                    <a:pt x="5461762" y="74028"/>
                  </a:lnTo>
                  <a:lnTo>
                    <a:pt x="148082" y="74028"/>
                  </a:lnTo>
                  <a:lnTo>
                    <a:pt x="148082" y="0"/>
                  </a:lnTo>
                  <a:lnTo>
                    <a:pt x="0" y="148069"/>
                  </a:lnTo>
                  <a:lnTo>
                    <a:pt x="148082" y="296176"/>
                  </a:lnTo>
                  <a:lnTo>
                    <a:pt x="148082" y="222122"/>
                  </a:lnTo>
                  <a:lnTo>
                    <a:pt x="5461762" y="222122"/>
                  </a:lnTo>
                  <a:lnTo>
                    <a:pt x="5461762" y="296176"/>
                  </a:lnTo>
                  <a:lnTo>
                    <a:pt x="5609844" y="148069"/>
                  </a:lnTo>
                  <a:lnTo>
                    <a:pt x="5461762" y="0"/>
                  </a:lnTo>
                  <a:close/>
                </a:path>
              </a:pathLst>
            </a:custGeom>
            <a:solidFill>
              <a:srgbClr val="B1C1D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0"/>
            <p:cNvSpPr/>
            <p:nvPr/>
          </p:nvSpPr>
          <p:spPr>
            <a:xfrm>
              <a:off x="5885942" y="5555869"/>
              <a:ext cx="5610225" cy="296545"/>
            </a:xfrm>
            <a:custGeom>
              <a:rect b="b" l="l" r="r" t="t"/>
              <a:pathLst>
                <a:path extrusionOk="0" h="296545" w="5610225">
                  <a:moveTo>
                    <a:pt x="0" y="148069"/>
                  </a:moveTo>
                  <a:lnTo>
                    <a:pt x="148082" y="0"/>
                  </a:lnTo>
                  <a:lnTo>
                    <a:pt x="148082" y="74028"/>
                  </a:lnTo>
                  <a:lnTo>
                    <a:pt x="5461762" y="74028"/>
                  </a:lnTo>
                  <a:lnTo>
                    <a:pt x="5461762" y="0"/>
                  </a:lnTo>
                  <a:lnTo>
                    <a:pt x="5609844" y="148069"/>
                  </a:lnTo>
                  <a:lnTo>
                    <a:pt x="5461762" y="296176"/>
                  </a:lnTo>
                  <a:lnTo>
                    <a:pt x="5461762" y="222122"/>
                  </a:lnTo>
                  <a:lnTo>
                    <a:pt x="148082" y="222122"/>
                  </a:lnTo>
                  <a:lnTo>
                    <a:pt x="148082" y="296176"/>
                  </a:lnTo>
                  <a:lnTo>
                    <a:pt x="0" y="148069"/>
                  </a:lnTo>
                  <a:close/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" name="Google Shape;253;p10"/>
          <p:cNvSpPr txBox="1"/>
          <p:nvPr/>
        </p:nvSpPr>
        <p:spPr>
          <a:xfrm>
            <a:off x="5241416" y="3604640"/>
            <a:ext cx="166370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sng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Feasibility Analysis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0"/>
          <p:cNvSpPr txBox="1"/>
          <p:nvPr>
            <p:ph idx="11" type="ftr"/>
          </p:nvPr>
        </p:nvSpPr>
        <p:spPr>
          <a:xfrm>
            <a:off x="5316092" y="6401604"/>
            <a:ext cx="1868170" cy="252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2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255" name="Google Shape;255;p10"/>
          <p:cNvSpPr txBox="1"/>
          <p:nvPr>
            <p:ph idx="12" type="sldNum"/>
          </p:nvPr>
        </p:nvSpPr>
        <p:spPr>
          <a:xfrm>
            <a:off x="11375390" y="6401604"/>
            <a:ext cx="167640" cy="252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25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6" name="Google Shape;256;p10" title="Screenshot 2026-09-10 at 2.32.27 PM.png"/>
          <p:cNvPicPr preferRelativeResize="0"/>
          <p:nvPr/>
        </p:nvPicPr>
        <p:blipFill>
          <a:blip r:embed="rId34">
            <a:alphaModFix/>
          </a:blip>
          <a:stretch>
            <a:fillRect/>
          </a:stretch>
        </p:blipFill>
        <p:spPr>
          <a:xfrm>
            <a:off x="452100" y="1697725"/>
            <a:ext cx="1074400" cy="774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0" title="Screenshot 2026-09-10 at 2.33.05 PM.png"/>
          <p:cNvPicPr preferRelativeResize="0"/>
          <p:nvPr/>
        </p:nvPicPr>
        <p:blipFill>
          <a:blip r:embed="rId35">
            <a:alphaModFix/>
          </a:blip>
          <a:stretch>
            <a:fillRect/>
          </a:stretch>
        </p:blipFill>
        <p:spPr>
          <a:xfrm>
            <a:off x="1545438" y="1684225"/>
            <a:ext cx="1024900" cy="80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0" title="Screenshot 2026-09-10 at 2.34.42 PM.png"/>
          <p:cNvPicPr preferRelativeResize="0"/>
          <p:nvPr/>
        </p:nvPicPr>
        <p:blipFill>
          <a:blip r:embed="rId36">
            <a:alphaModFix/>
          </a:blip>
          <a:stretch>
            <a:fillRect/>
          </a:stretch>
        </p:blipFill>
        <p:spPr>
          <a:xfrm>
            <a:off x="2626400" y="1667825"/>
            <a:ext cx="1024900" cy="83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0" title="Screenshot 2026-09-10 at 2.36.19 PM.png"/>
          <p:cNvPicPr preferRelativeResize="0"/>
          <p:nvPr/>
        </p:nvPicPr>
        <p:blipFill>
          <a:blip r:embed="rId37">
            <a:alphaModFix/>
          </a:blip>
          <a:stretch>
            <a:fillRect/>
          </a:stretch>
        </p:blipFill>
        <p:spPr>
          <a:xfrm>
            <a:off x="3681125" y="1684225"/>
            <a:ext cx="1072900" cy="80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64" name="Google Shape;264;p11"/>
          <p:cNvSpPr txBox="1"/>
          <p:nvPr>
            <p:ph type="title"/>
          </p:nvPr>
        </p:nvSpPr>
        <p:spPr>
          <a:xfrm>
            <a:off x="2607945" y="221437"/>
            <a:ext cx="6976109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9734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IMPACT AND BENEFITS</a:t>
            </a:r>
            <a:endParaRPr/>
          </a:p>
        </p:txBody>
      </p:sp>
      <p:pic>
        <p:nvPicPr>
          <p:cNvPr descr="https://www.sih.gov.in/img1/SIH-Logo.png" id="265" name="Google Shape;26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65767" y="118112"/>
            <a:ext cx="2160343" cy="1000819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1"/>
          <p:cNvSpPr txBox="1"/>
          <p:nvPr/>
        </p:nvSpPr>
        <p:spPr>
          <a:xfrm>
            <a:off x="291795" y="1094689"/>
            <a:ext cx="41560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sng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Potential Impact on the Target Audience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7" name="Google Shape;267;p11"/>
          <p:cNvGrpSpPr/>
          <p:nvPr/>
        </p:nvGrpSpPr>
        <p:grpSpPr>
          <a:xfrm>
            <a:off x="1146025" y="1613853"/>
            <a:ext cx="3657623" cy="1307717"/>
            <a:chOff x="1146025" y="1613853"/>
            <a:chExt cx="3657623" cy="1307717"/>
          </a:xfrm>
        </p:grpSpPr>
        <p:pic>
          <p:nvPicPr>
            <p:cNvPr id="268" name="Google Shape;268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46025" y="1613853"/>
              <a:ext cx="3643918" cy="13077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9" name="Google Shape;269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914144" y="1781568"/>
              <a:ext cx="2889504" cy="9951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11"/>
            <p:cNvSpPr/>
            <p:nvPr/>
          </p:nvSpPr>
          <p:spPr>
            <a:xfrm>
              <a:off x="1188821" y="1646046"/>
              <a:ext cx="3553460" cy="1207770"/>
            </a:xfrm>
            <a:custGeom>
              <a:rect b="b" l="l" r="r" t="t"/>
              <a:pathLst>
                <a:path extrusionOk="0" h="1207770" w="3553460">
                  <a:moveTo>
                    <a:pt x="3552850" y="0"/>
                  </a:moveTo>
                  <a:lnTo>
                    <a:pt x="603910" y="0"/>
                  </a:lnTo>
                  <a:lnTo>
                    <a:pt x="0" y="603757"/>
                  </a:lnTo>
                  <a:lnTo>
                    <a:pt x="603910" y="1207642"/>
                  </a:lnTo>
                  <a:lnTo>
                    <a:pt x="3552850" y="1207642"/>
                  </a:lnTo>
                  <a:lnTo>
                    <a:pt x="3552850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1"/>
            <p:cNvSpPr/>
            <p:nvPr/>
          </p:nvSpPr>
          <p:spPr>
            <a:xfrm>
              <a:off x="1188821" y="1646046"/>
              <a:ext cx="3553460" cy="1207770"/>
            </a:xfrm>
            <a:custGeom>
              <a:rect b="b" l="l" r="r" t="t"/>
              <a:pathLst>
                <a:path extrusionOk="0" h="1207770" w="3553460">
                  <a:moveTo>
                    <a:pt x="3552850" y="1207642"/>
                  </a:moveTo>
                  <a:lnTo>
                    <a:pt x="603910" y="1207642"/>
                  </a:lnTo>
                  <a:lnTo>
                    <a:pt x="0" y="603757"/>
                  </a:lnTo>
                  <a:lnTo>
                    <a:pt x="603910" y="0"/>
                  </a:lnTo>
                  <a:lnTo>
                    <a:pt x="3552850" y="0"/>
                  </a:lnTo>
                  <a:lnTo>
                    <a:pt x="3552850" y="1207642"/>
                  </a:lnTo>
                  <a:close/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2" name="Google Shape;272;p11"/>
          <p:cNvSpPr txBox="1"/>
          <p:nvPr/>
        </p:nvSpPr>
        <p:spPr>
          <a:xfrm>
            <a:off x="2024633" y="1789277"/>
            <a:ext cx="26364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6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b="1" lang="en-US" sz="1300">
                <a:solidFill>
                  <a:srgbClr val="FFFFFF"/>
                </a:solidFill>
              </a:rPr>
              <a:t>Investigators: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1270" lvl="0" marL="12700" marR="5080" rtl="0" algn="ctr">
              <a:lnSpc>
                <a:spcPct val="103636"/>
              </a:lnSpc>
              <a:spcBef>
                <a:spcPts val="455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</a:rPr>
              <a:t>Faster identification of meaningful relationships across fragmented dark-web traces.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3" name="Google Shape;273;p11"/>
          <p:cNvGrpSpPr/>
          <p:nvPr/>
        </p:nvGrpSpPr>
        <p:grpSpPr>
          <a:xfrm>
            <a:off x="522731" y="1604772"/>
            <a:ext cx="1327404" cy="1325879"/>
            <a:chOff x="522731" y="1604772"/>
            <a:chExt cx="1327404" cy="1325879"/>
          </a:xfrm>
        </p:grpSpPr>
        <p:pic>
          <p:nvPicPr>
            <p:cNvPr id="274" name="Google Shape;274;p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22731" y="1604772"/>
              <a:ext cx="1327404" cy="13258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5" name="Google Shape;275;p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84949" y="1646047"/>
              <a:ext cx="1207731" cy="12076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6" name="Google Shape;276;p11"/>
            <p:cNvSpPr/>
            <p:nvPr/>
          </p:nvSpPr>
          <p:spPr>
            <a:xfrm>
              <a:off x="584949" y="1646047"/>
              <a:ext cx="1208405" cy="1207770"/>
            </a:xfrm>
            <a:custGeom>
              <a:rect b="b" l="l" r="r" t="t"/>
              <a:pathLst>
                <a:path extrusionOk="0" h="1207770" w="1208405">
                  <a:moveTo>
                    <a:pt x="0" y="603757"/>
                  </a:moveTo>
                  <a:lnTo>
                    <a:pt x="1816" y="556567"/>
                  </a:lnTo>
                  <a:lnTo>
                    <a:pt x="7177" y="510371"/>
                  </a:lnTo>
                  <a:lnTo>
                    <a:pt x="15948" y="465304"/>
                  </a:lnTo>
                  <a:lnTo>
                    <a:pt x="27994" y="421499"/>
                  </a:lnTo>
                  <a:lnTo>
                    <a:pt x="43182" y="379092"/>
                  </a:lnTo>
                  <a:lnTo>
                    <a:pt x="61377" y="338216"/>
                  </a:lnTo>
                  <a:lnTo>
                    <a:pt x="82445" y="299005"/>
                  </a:lnTo>
                  <a:lnTo>
                    <a:pt x="106251" y="261593"/>
                  </a:lnTo>
                  <a:lnTo>
                    <a:pt x="132662" y="226114"/>
                  </a:lnTo>
                  <a:lnTo>
                    <a:pt x="161543" y="192703"/>
                  </a:lnTo>
                  <a:lnTo>
                    <a:pt x="192760" y="161494"/>
                  </a:lnTo>
                  <a:lnTo>
                    <a:pt x="226178" y="132621"/>
                  </a:lnTo>
                  <a:lnTo>
                    <a:pt x="261664" y="106217"/>
                  </a:lnTo>
                  <a:lnTo>
                    <a:pt x="299084" y="82418"/>
                  </a:lnTo>
                  <a:lnTo>
                    <a:pt x="338302" y="61356"/>
                  </a:lnTo>
                  <a:lnTo>
                    <a:pt x="379185" y="43167"/>
                  </a:lnTo>
                  <a:lnTo>
                    <a:pt x="421598" y="27985"/>
                  </a:lnTo>
                  <a:lnTo>
                    <a:pt x="465408" y="15942"/>
                  </a:lnTo>
                  <a:lnTo>
                    <a:pt x="510479" y="7175"/>
                  </a:lnTo>
                  <a:lnTo>
                    <a:pt x="556679" y="1816"/>
                  </a:lnTo>
                  <a:lnTo>
                    <a:pt x="603872" y="0"/>
                  </a:lnTo>
                  <a:lnTo>
                    <a:pt x="651067" y="1816"/>
                  </a:lnTo>
                  <a:lnTo>
                    <a:pt x="697268" y="7175"/>
                  </a:lnTo>
                  <a:lnTo>
                    <a:pt x="742342" y="15942"/>
                  </a:lnTo>
                  <a:lnTo>
                    <a:pt x="786154" y="27985"/>
                  </a:lnTo>
                  <a:lnTo>
                    <a:pt x="828570" y="43167"/>
                  </a:lnTo>
                  <a:lnTo>
                    <a:pt x="869455" y="61356"/>
                  </a:lnTo>
                  <a:lnTo>
                    <a:pt x="908676" y="82418"/>
                  </a:lnTo>
                  <a:lnTo>
                    <a:pt x="946097" y="106217"/>
                  </a:lnTo>
                  <a:lnTo>
                    <a:pt x="981586" y="132621"/>
                  </a:lnTo>
                  <a:lnTo>
                    <a:pt x="1015007" y="161494"/>
                  </a:lnTo>
                  <a:lnTo>
                    <a:pt x="1046226" y="192703"/>
                  </a:lnTo>
                  <a:lnTo>
                    <a:pt x="1075109" y="226114"/>
                  </a:lnTo>
                  <a:lnTo>
                    <a:pt x="1101522" y="261593"/>
                  </a:lnTo>
                  <a:lnTo>
                    <a:pt x="1125330" y="299005"/>
                  </a:lnTo>
                  <a:lnTo>
                    <a:pt x="1146400" y="338216"/>
                  </a:lnTo>
                  <a:lnTo>
                    <a:pt x="1164596" y="379092"/>
                  </a:lnTo>
                  <a:lnTo>
                    <a:pt x="1179785" y="421499"/>
                  </a:lnTo>
                  <a:lnTo>
                    <a:pt x="1191832" y="465304"/>
                  </a:lnTo>
                  <a:lnTo>
                    <a:pt x="1200604" y="510371"/>
                  </a:lnTo>
                  <a:lnTo>
                    <a:pt x="1205965" y="556567"/>
                  </a:lnTo>
                  <a:lnTo>
                    <a:pt x="1207782" y="603757"/>
                  </a:lnTo>
                  <a:lnTo>
                    <a:pt x="1205965" y="650965"/>
                  </a:lnTo>
                  <a:lnTo>
                    <a:pt x="1200604" y="697177"/>
                  </a:lnTo>
                  <a:lnTo>
                    <a:pt x="1191832" y="742258"/>
                  </a:lnTo>
                  <a:lnTo>
                    <a:pt x="1179785" y="786075"/>
                  </a:lnTo>
                  <a:lnTo>
                    <a:pt x="1164596" y="828494"/>
                  </a:lnTo>
                  <a:lnTo>
                    <a:pt x="1146400" y="869380"/>
                  </a:lnTo>
                  <a:lnTo>
                    <a:pt x="1125330" y="908600"/>
                  </a:lnTo>
                  <a:lnTo>
                    <a:pt x="1101522" y="946019"/>
                  </a:lnTo>
                  <a:lnTo>
                    <a:pt x="1075109" y="981504"/>
                  </a:lnTo>
                  <a:lnTo>
                    <a:pt x="1046226" y="1014920"/>
                  </a:lnTo>
                  <a:lnTo>
                    <a:pt x="1015007" y="1046134"/>
                  </a:lnTo>
                  <a:lnTo>
                    <a:pt x="981586" y="1075011"/>
                  </a:lnTo>
                  <a:lnTo>
                    <a:pt x="946097" y="1101418"/>
                  </a:lnTo>
                  <a:lnTo>
                    <a:pt x="908676" y="1125219"/>
                  </a:lnTo>
                  <a:lnTo>
                    <a:pt x="869455" y="1146283"/>
                  </a:lnTo>
                  <a:lnTo>
                    <a:pt x="828570" y="1164473"/>
                  </a:lnTo>
                  <a:lnTo>
                    <a:pt x="786154" y="1179657"/>
                  </a:lnTo>
                  <a:lnTo>
                    <a:pt x="742342" y="1191699"/>
                  </a:lnTo>
                  <a:lnTo>
                    <a:pt x="697268" y="1200467"/>
                  </a:lnTo>
                  <a:lnTo>
                    <a:pt x="651067" y="1205826"/>
                  </a:lnTo>
                  <a:lnTo>
                    <a:pt x="603872" y="1207642"/>
                  </a:lnTo>
                  <a:lnTo>
                    <a:pt x="556679" y="1205826"/>
                  </a:lnTo>
                  <a:lnTo>
                    <a:pt x="510479" y="1200467"/>
                  </a:lnTo>
                  <a:lnTo>
                    <a:pt x="465408" y="1191699"/>
                  </a:lnTo>
                  <a:lnTo>
                    <a:pt x="421598" y="1179657"/>
                  </a:lnTo>
                  <a:lnTo>
                    <a:pt x="379185" y="1164473"/>
                  </a:lnTo>
                  <a:lnTo>
                    <a:pt x="338302" y="1146283"/>
                  </a:lnTo>
                  <a:lnTo>
                    <a:pt x="299084" y="1125219"/>
                  </a:lnTo>
                  <a:lnTo>
                    <a:pt x="261664" y="1101418"/>
                  </a:lnTo>
                  <a:lnTo>
                    <a:pt x="226178" y="1075011"/>
                  </a:lnTo>
                  <a:lnTo>
                    <a:pt x="192760" y="1046134"/>
                  </a:lnTo>
                  <a:lnTo>
                    <a:pt x="161543" y="1014920"/>
                  </a:lnTo>
                  <a:lnTo>
                    <a:pt x="132662" y="981504"/>
                  </a:lnTo>
                  <a:lnTo>
                    <a:pt x="106251" y="946019"/>
                  </a:lnTo>
                  <a:lnTo>
                    <a:pt x="82445" y="908600"/>
                  </a:lnTo>
                  <a:lnTo>
                    <a:pt x="61377" y="869380"/>
                  </a:lnTo>
                  <a:lnTo>
                    <a:pt x="43182" y="828494"/>
                  </a:lnTo>
                  <a:lnTo>
                    <a:pt x="27994" y="786075"/>
                  </a:lnTo>
                  <a:lnTo>
                    <a:pt x="15948" y="742258"/>
                  </a:lnTo>
                  <a:lnTo>
                    <a:pt x="7177" y="697177"/>
                  </a:lnTo>
                  <a:lnTo>
                    <a:pt x="1816" y="650965"/>
                  </a:lnTo>
                  <a:lnTo>
                    <a:pt x="0" y="603757"/>
                  </a:lnTo>
                  <a:close/>
                </a:path>
              </a:pathLst>
            </a:custGeom>
            <a:noFill/>
            <a:ln cap="flat" cmpd="sng" w="380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7" name="Google Shape;277;p11"/>
          <p:cNvGrpSpPr/>
          <p:nvPr/>
        </p:nvGrpSpPr>
        <p:grpSpPr>
          <a:xfrm>
            <a:off x="1146025" y="3182049"/>
            <a:ext cx="3643918" cy="1307717"/>
            <a:chOff x="1146025" y="3182049"/>
            <a:chExt cx="3643918" cy="1307717"/>
          </a:xfrm>
        </p:grpSpPr>
        <p:pic>
          <p:nvPicPr>
            <p:cNvPr id="278" name="Google Shape;278;p1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146025" y="3182049"/>
              <a:ext cx="3643918" cy="13077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9" name="Google Shape;279;p1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959864" y="3276612"/>
              <a:ext cx="2796540" cy="11414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11"/>
            <p:cNvSpPr/>
            <p:nvPr/>
          </p:nvSpPr>
          <p:spPr>
            <a:xfrm>
              <a:off x="1188821" y="3214243"/>
              <a:ext cx="3553460" cy="1207770"/>
            </a:xfrm>
            <a:custGeom>
              <a:rect b="b" l="l" r="r" t="t"/>
              <a:pathLst>
                <a:path extrusionOk="0" h="1207770" w="3553460">
                  <a:moveTo>
                    <a:pt x="3552850" y="0"/>
                  </a:moveTo>
                  <a:lnTo>
                    <a:pt x="603910" y="0"/>
                  </a:lnTo>
                  <a:lnTo>
                    <a:pt x="0" y="603885"/>
                  </a:lnTo>
                  <a:lnTo>
                    <a:pt x="603910" y="1207770"/>
                  </a:lnTo>
                  <a:lnTo>
                    <a:pt x="3552850" y="1207770"/>
                  </a:lnTo>
                  <a:lnTo>
                    <a:pt x="3552850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1"/>
            <p:cNvSpPr/>
            <p:nvPr/>
          </p:nvSpPr>
          <p:spPr>
            <a:xfrm>
              <a:off x="1188821" y="3214243"/>
              <a:ext cx="3553460" cy="1207770"/>
            </a:xfrm>
            <a:custGeom>
              <a:rect b="b" l="l" r="r" t="t"/>
              <a:pathLst>
                <a:path extrusionOk="0" h="1207770" w="3553460">
                  <a:moveTo>
                    <a:pt x="3552850" y="1207770"/>
                  </a:moveTo>
                  <a:lnTo>
                    <a:pt x="603910" y="1207770"/>
                  </a:lnTo>
                  <a:lnTo>
                    <a:pt x="0" y="603885"/>
                  </a:lnTo>
                  <a:lnTo>
                    <a:pt x="603910" y="0"/>
                  </a:lnTo>
                  <a:lnTo>
                    <a:pt x="3552850" y="0"/>
                  </a:lnTo>
                  <a:lnTo>
                    <a:pt x="3552850" y="1207770"/>
                  </a:lnTo>
                  <a:close/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2" name="Google Shape;282;p11"/>
          <p:cNvSpPr txBox="1"/>
          <p:nvPr/>
        </p:nvSpPr>
        <p:spPr>
          <a:xfrm>
            <a:off x="2070354" y="3317824"/>
            <a:ext cx="25443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" rtl="0" algn="ctr">
              <a:lnSpc>
                <a:spcPct val="111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</a:rPr>
              <a:t>Forensic &amp; Intelligence Teams: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2540" lvl="0" marL="12065" marR="5080" rtl="0" algn="ctr">
              <a:lnSpc>
                <a:spcPct val="103636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</a:rPr>
              <a:t>Evidence-backed profiles, timelines and counter-evidence for stronger attribution analysis.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3" name="Google Shape;283;p11"/>
          <p:cNvGrpSpPr/>
          <p:nvPr/>
        </p:nvGrpSpPr>
        <p:grpSpPr>
          <a:xfrm>
            <a:off x="522731" y="3172967"/>
            <a:ext cx="1327404" cy="1325879"/>
            <a:chOff x="522731" y="3172967"/>
            <a:chExt cx="1327404" cy="1325879"/>
          </a:xfrm>
        </p:grpSpPr>
        <p:pic>
          <p:nvPicPr>
            <p:cNvPr id="284" name="Google Shape;284;p1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22731" y="3172967"/>
              <a:ext cx="1327404" cy="13258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p1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84949" y="3214281"/>
              <a:ext cx="1207731" cy="12077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6" name="Google Shape;286;p11"/>
            <p:cNvSpPr/>
            <p:nvPr/>
          </p:nvSpPr>
          <p:spPr>
            <a:xfrm>
              <a:off x="584949" y="3214242"/>
              <a:ext cx="1208405" cy="1207770"/>
            </a:xfrm>
            <a:custGeom>
              <a:rect b="b" l="l" r="r" t="t"/>
              <a:pathLst>
                <a:path extrusionOk="0" h="1207770" w="1208405">
                  <a:moveTo>
                    <a:pt x="0" y="603885"/>
                  </a:moveTo>
                  <a:lnTo>
                    <a:pt x="1816" y="556693"/>
                  </a:lnTo>
                  <a:lnTo>
                    <a:pt x="7177" y="510495"/>
                  </a:lnTo>
                  <a:lnTo>
                    <a:pt x="15948" y="465424"/>
                  </a:lnTo>
                  <a:lnTo>
                    <a:pt x="27994" y="421614"/>
                  </a:lnTo>
                  <a:lnTo>
                    <a:pt x="43182" y="379201"/>
                  </a:lnTo>
                  <a:lnTo>
                    <a:pt x="61377" y="338318"/>
                  </a:lnTo>
                  <a:lnTo>
                    <a:pt x="82445" y="299099"/>
                  </a:lnTo>
                  <a:lnTo>
                    <a:pt x="106251" y="261678"/>
                  </a:lnTo>
                  <a:lnTo>
                    <a:pt x="132662" y="226191"/>
                  </a:lnTo>
                  <a:lnTo>
                    <a:pt x="161543" y="192771"/>
                  </a:lnTo>
                  <a:lnTo>
                    <a:pt x="192760" y="161553"/>
                  </a:lnTo>
                  <a:lnTo>
                    <a:pt x="226178" y="132671"/>
                  </a:lnTo>
                  <a:lnTo>
                    <a:pt x="261664" y="106259"/>
                  </a:lnTo>
                  <a:lnTo>
                    <a:pt x="299084" y="82451"/>
                  </a:lnTo>
                  <a:lnTo>
                    <a:pt x="338302" y="61382"/>
                  </a:lnTo>
                  <a:lnTo>
                    <a:pt x="379185" y="43185"/>
                  </a:lnTo>
                  <a:lnTo>
                    <a:pt x="421598" y="27997"/>
                  </a:lnTo>
                  <a:lnTo>
                    <a:pt x="465408" y="15949"/>
                  </a:lnTo>
                  <a:lnTo>
                    <a:pt x="510479" y="7178"/>
                  </a:lnTo>
                  <a:lnTo>
                    <a:pt x="556679" y="1816"/>
                  </a:lnTo>
                  <a:lnTo>
                    <a:pt x="603872" y="0"/>
                  </a:lnTo>
                  <a:lnTo>
                    <a:pt x="651067" y="1816"/>
                  </a:lnTo>
                  <a:lnTo>
                    <a:pt x="697268" y="7178"/>
                  </a:lnTo>
                  <a:lnTo>
                    <a:pt x="742342" y="15949"/>
                  </a:lnTo>
                  <a:lnTo>
                    <a:pt x="786154" y="27997"/>
                  </a:lnTo>
                  <a:lnTo>
                    <a:pt x="828570" y="43185"/>
                  </a:lnTo>
                  <a:lnTo>
                    <a:pt x="869455" y="61382"/>
                  </a:lnTo>
                  <a:lnTo>
                    <a:pt x="908676" y="82451"/>
                  </a:lnTo>
                  <a:lnTo>
                    <a:pt x="946097" y="106259"/>
                  </a:lnTo>
                  <a:lnTo>
                    <a:pt x="981586" y="132671"/>
                  </a:lnTo>
                  <a:lnTo>
                    <a:pt x="1015007" y="161553"/>
                  </a:lnTo>
                  <a:lnTo>
                    <a:pt x="1046226" y="192771"/>
                  </a:lnTo>
                  <a:lnTo>
                    <a:pt x="1075109" y="226191"/>
                  </a:lnTo>
                  <a:lnTo>
                    <a:pt x="1101522" y="261678"/>
                  </a:lnTo>
                  <a:lnTo>
                    <a:pt x="1125330" y="299099"/>
                  </a:lnTo>
                  <a:lnTo>
                    <a:pt x="1146400" y="338318"/>
                  </a:lnTo>
                  <a:lnTo>
                    <a:pt x="1164596" y="379201"/>
                  </a:lnTo>
                  <a:lnTo>
                    <a:pt x="1179785" y="421614"/>
                  </a:lnTo>
                  <a:lnTo>
                    <a:pt x="1191832" y="465424"/>
                  </a:lnTo>
                  <a:lnTo>
                    <a:pt x="1200604" y="510495"/>
                  </a:lnTo>
                  <a:lnTo>
                    <a:pt x="1205965" y="556693"/>
                  </a:lnTo>
                  <a:lnTo>
                    <a:pt x="1207782" y="603885"/>
                  </a:lnTo>
                  <a:lnTo>
                    <a:pt x="1205965" y="651076"/>
                  </a:lnTo>
                  <a:lnTo>
                    <a:pt x="1200604" y="697274"/>
                  </a:lnTo>
                  <a:lnTo>
                    <a:pt x="1191832" y="742345"/>
                  </a:lnTo>
                  <a:lnTo>
                    <a:pt x="1179785" y="786155"/>
                  </a:lnTo>
                  <a:lnTo>
                    <a:pt x="1164596" y="828568"/>
                  </a:lnTo>
                  <a:lnTo>
                    <a:pt x="1146400" y="869451"/>
                  </a:lnTo>
                  <a:lnTo>
                    <a:pt x="1125330" y="908670"/>
                  </a:lnTo>
                  <a:lnTo>
                    <a:pt x="1101522" y="946091"/>
                  </a:lnTo>
                  <a:lnTo>
                    <a:pt x="1075109" y="981578"/>
                  </a:lnTo>
                  <a:lnTo>
                    <a:pt x="1046226" y="1014998"/>
                  </a:lnTo>
                  <a:lnTo>
                    <a:pt x="1015007" y="1046216"/>
                  </a:lnTo>
                  <a:lnTo>
                    <a:pt x="981586" y="1075098"/>
                  </a:lnTo>
                  <a:lnTo>
                    <a:pt x="946097" y="1101510"/>
                  </a:lnTo>
                  <a:lnTo>
                    <a:pt x="908676" y="1125318"/>
                  </a:lnTo>
                  <a:lnTo>
                    <a:pt x="869455" y="1146387"/>
                  </a:lnTo>
                  <a:lnTo>
                    <a:pt x="828570" y="1164584"/>
                  </a:lnTo>
                  <a:lnTo>
                    <a:pt x="786154" y="1179772"/>
                  </a:lnTo>
                  <a:lnTo>
                    <a:pt x="742342" y="1191820"/>
                  </a:lnTo>
                  <a:lnTo>
                    <a:pt x="697268" y="1200591"/>
                  </a:lnTo>
                  <a:lnTo>
                    <a:pt x="651067" y="1205953"/>
                  </a:lnTo>
                  <a:lnTo>
                    <a:pt x="603872" y="1207770"/>
                  </a:lnTo>
                  <a:lnTo>
                    <a:pt x="556679" y="1205953"/>
                  </a:lnTo>
                  <a:lnTo>
                    <a:pt x="510479" y="1200591"/>
                  </a:lnTo>
                  <a:lnTo>
                    <a:pt x="465408" y="1191820"/>
                  </a:lnTo>
                  <a:lnTo>
                    <a:pt x="421598" y="1179772"/>
                  </a:lnTo>
                  <a:lnTo>
                    <a:pt x="379185" y="1164584"/>
                  </a:lnTo>
                  <a:lnTo>
                    <a:pt x="338302" y="1146387"/>
                  </a:lnTo>
                  <a:lnTo>
                    <a:pt x="299084" y="1125318"/>
                  </a:lnTo>
                  <a:lnTo>
                    <a:pt x="261664" y="1101510"/>
                  </a:lnTo>
                  <a:lnTo>
                    <a:pt x="226178" y="1075098"/>
                  </a:lnTo>
                  <a:lnTo>
                    <a:pt x="192760" y="1046216"/>
                  </a:lnTo>
                  <a:lnTo>
                    <a:pt x="161543" y="1014998"/>
                  </a:lnTo>
                  <a:lnTo>
                    <a:pt x="132662" y="981578"/>
                  </a:lnTo>
                  <a:lnTo>
                    <a:pt x="106251" y="946091"/>
                  </a:lnTo>
                  <a:lnTo>
                    <a:pt x="82445" y="908670"/>
                  </a:lnTo>
                  <a:lnTo>
                    <a:pt x="61377" y="869451"/>
                  </a:lnTo>
                  <a:lnTo>
                    <a:pt x="43182" y="828568"/>
                  </a:lnTo>
                  <a:lnTo>
                    <a:pt x="27994" y="786155"/>
                  </a:lnTo>
                  <a:lnTo>
                    <a:pt x="15948" y="742345"/>
                  </a:lnTo>
                  <a:lnTo>
                    <a:pt x="7177" y="697274"/>
                  </a:lnTo>
                  <a:lnTo>
                    <a:pt x="1816" y="651076"/>
                  </a:lnTo>
                  <a:lnTo>
                    <a:pt x="0" y="603885"/>
                  </a:lnTo>
                  <a:close/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7" name="Google Shape;287;p11"/>
          <p:cNvGrpSpPr/>
          <p:nvPr/>
        </p:nvGrpSpPr>
        <p:grpSpPr>
          <a:xfrm>
            <a:off x="1146025" y="4750258"/>
            <a:ext cx="3657623" cy="1307717"/>
            <a:chOff x="1146025" y="4750258"/>
            <a:chExt cx="3657623" cy="1307717"/>
          </a:xfrm>
        </p:grpSpPr>
        <p:pic>
          <p:nvPicPr>
            <p:cNvPr id="288" name="Google Shape;288;p1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146025" y="4750258"/>
              <a:ext cx="3643918" cy="13077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9" name="Google Shape;289;p1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914144" y="4917948"/>
              <a:ext cx="2889504" cy="9951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0" name="Google Shape;290;p11"/>
            <p:cNvSpPr/>
            <p:nvPr/>
          </p:nvSpPr>
          <p:spPr>
            <a:xfrm>
              <a:off x="1188821" y="4782566"/>
              <a:ext cx="3553460" cy="1207770"/>
            </a:xfrm>
            <a:custGeom>
              <a:rect b="b" l="l" r="r" t="t"/>
              <a:pathLst>
                <a:path extrusionOk="0" h="1207770" w="3553460">
                  <a:moveTo>
                    <a:pt x="3552850" y="0"/>
                  </a:moveTo>
                  <a:lnTo>
                    <a:pt x="603910" y="0"/>
                  </a:lnTo>
                  <a:lnTo>
                    <a:pt x="0" y="603757"/>
                  </a:lnTo>
                  <a:lnTo>
                    <a:pt x="603910" y="1207681"/>
                  </a:lnTo>
                  <a:lnTo>
                    <a:pt x="3552850" y="1207681"/>
                  </a:lnTo>
                  <a:lnTo>
                    <a:pt x="3552850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1"/>
            <p:cNvSpPr/>
            <p:nvPr/>
          </p:nvSpPr>
          <p:spPr>
            <a:xfrm>
              <a:off x="1188821" y="4782566"/>
              <a:ext cx="3553460" cy="1207770"/>
            </a:xfrm>
            <a:custGeom>
              <a:rect b="b" l="l" r="r" t="t"/>
              <a:pathLst>
                <a:path extrusionOk="0" h="1207770" w="3553460">
                  <a:moveTo>
                    <a:pt x="3552850" y="1207681"/>
                  </a:moveTo>
                  <a:lnTo>
                    <a:pt x="603910" y="1207681"/>
                  </a:lnTo>
                  <a:lnTo>
                    <a:pt x="0" y="603757"/>
                  </a:lnTo>
                  <a:lnTo>
                    <a:pt x="603910" y="0"/>
                  </a:lnTo>
                  <a:lnTo>
                    <a:pt x="3552850" y="0"/>
                  </a:lnTo>
                  <a:lnTo>
                    <a:pt x="3552850" y="1207681"/>
                  </a:lnTo>
                  <a:close/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2" name="Google Shape;292;p11"/>
          <p:cNvSpPr txBox="1"/>
          <p:nvPr/>
        </p:nvSpPr>
        <p:spPr>
          <a:xfrm>
            <a:off x="2024633" y="4926304"/>
            <a:ext cx="26352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</a:rPr>
              <a:t>Authorized Agen</a:t>
            </a:r>
            <a:r>
              <a:rPr b="1" lang="en-US" sz="1300">
                <a:solidFill>
                  <a:srgbClr val="FFFFFF"/>
                </a:solidFill>
              </a:rPr>
              <a:t>cies: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ctr">
              <a:lnSpc>
                <a:spcPct val="103636"/>
              </a:lnSpc>
              <a:spcBef>
                <a:spcPts val="455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</a:rPr>
              <a:t>Auditable, reproducible intelligence reports that support investigations while keeping analysts in control.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3" name="Google Shape;293;p11"/>
          <p:cNvGrpSpPr/>
          <p:nvPr/>
        </p:nvGrpSpPr>
        <p:grpSpPr>
          <a:xfrm>
            <a:off x="522731" y="4741176"/>
            <a:ext cx="1327404" cy="1325880"/>
            <a:chOff x="522731" y="4741176"/>
            <a:chExt cx="1327404" cy="1325880"/>
          </a:xfrm>
        </p:grpSpPr>
        <p:pic>
          <p:nvPicPr>
            <p:cNvPr id="294" name="Google Shape;294;p1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22731" y="4741176"/>
              <a:ext cx="1327404" cy="1325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5" name="Google Shape;295;p11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584949" y="4782566"/>
              <a:ext cx="1207731" cy="12076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6" name="Google Shape;296;p11"/>
            <p:cNvSpPr/>
            <p:nvPr/>
          </p:nvSpPr>
          <p:spPr>
            <a:xfrm>
              <a:off x="584949" y="4782566"/>
              <a:ext cx="1208405" cy="1207770"/>
            </a:xfrm>
            <a:custGeom>
              <a:rect b="b" l="l" r="r" t="t"/>
              <a:pathLst>
                <a:path extrusionOk="0" h="1207770" w="1208405">
                  <a:moveTo>
                    <a:pt x="0" y="603757"/>
                  </a:moveTo>
                  <a:lnTo>
                    <a:pt x="1816" y="556567"/>
                  </a:lnTo>
                  <a:lnTo>
                    <a:pt x="7177" y="510371"/>
                  </a:lnTo>
                  <a:lnTo>
                    <a:pt x="15948" y="465304"/>
                  </a:lnTo>
                  <a:lnTo>
                    <a:pt x="27994" y="421499"/>
                  </a:lnTo>
                  <a:lnTo>
                    <a:pt x="43182" y="379092"/>
                  </a:lnTo>
                  <a:lnTo>
                    <a:pt x="61377" y="338216"/>
                  </a:lnTo>
                  <a:lnTo>
                    <a:pt x="82445" y="299005"/>
                  </a:lnTo>
                  <a:lnTo>
                    <a:pt x="106251" y="261593"/>
                  </a:lnTo>
                  <a:lnTo>
                    <a:pt x="132662" y="226114"/>
                  </a:lnTo>
                  <a:lnTo>
                    <a:pt x="161543" y="192703"/>
                  </a:lnTo>
                  <a:lnTo>
                    <a:pt x="192760" y="161494"/>
                  </a:lnTo>
                  <a:lnTo>
                    <a:pt x="226178" y="132621"/>
                  </a:lnTo>
                  <a:lnTo>
                    <a:pt x="261664" y="106217"/>
                  </a:lnTo>
                  <a:lnTo>
                    <a:pt x="299084" y="82418"/>
                  </a:lnTo>
                  <a:lnTo>
                    <a:pt x="338302" y="61356"/>
                  </a:lnTo>
                  <a:lnTo>
                    <a:pt x="379185" y="43167"/>
                  </a:lnTo>
                  <a:lnTo>
                    <a:pt x="421598" y="27985"/>
                  </a:lnTo>
                  <a:lnTo>
                    <a:pt x="465408" y="15942"/>
                  </a:lnTo>
                  <a:lnTo>
                    <a:pt x="510479" y="7175"/>
                  </a:lnTo>
                  <a:lnTo>
                    <a:pt x="556679" y="1816"/>
                  </a:lnTo>
                  <a:lnTo>
                    <a:pt x="603872" y="0"/>
                  </a:lnTo>
                  <a:lnTo>
                    <a:pt x="651067" y="1816"/>
                  </a:lnTo>
                  <a:lnTo>
                    <a:pt x="697268" y="7175"/>
                  </a:lnTo>
                  <a:lnTo>
                    <a:pt x="742342" y="15942"/>
                  </a:lnTo>
                  <a:lnTo>
                    <a:pt x="786154" y="27985"/>
                  </a:lnTo>
                  <a:lnTo>
                    <a:pt x="828570" y="43167"/>
                  </a:lnTo>
                  <a:lnTo>
                    <a:pt x="869455" y="61356"/>
                  </a:lnTo>
                  <a:lnTo>
                    <a:pt x="908676" y="82418"/>
                  </a:lnTo>
                  <a:lnTo>
                    <a:pt x="946097" y="106217"/>
                  </a:lnTo>
                  <a:lnTo>
                    <a:pt x="981586" y="132621"/>
                  </a:lnTo>
                  <a:lnTo>
                    <a:pt x="1015007" y="161494"/>
                  </a:lnTo>
                  <a:lnTo>
                    <a:pt x="1046226" y="192703"/>
                  </a:lnTo>
                  <a:lnTo>
                    <a:pt x="1075109" y="226114"/>
                  </a:lnTo>
                  <a:lnTo>
                    <a:pt x="1101522" y="261593"/>
                  </a:lnTo>
                  <a:lnTo>
                    <a:pt x="1125330" y="299005"/>
                  </a:lnTo>
                  <a:lnTo>
                    <a:pt x="1146400" y="338216"/>
                  </a:lnTo>
                  <a:lnTo>
                    <a:pt x="1164596" y="379092"/>
                  </a:lnTo>
                  <a:lnTo>
                    <a:pt x="1179785" y="421499"/>
                  </a:lnTo>
                  <a:lnTo>
                    <a:pt x="1191832" y="465304"/>
                  </a:lnTo>
                  <a:lnTo>
                    <a:pt x="1200604" y="510371"/>
                  </a:lnTo>
                  <a:lnTo>
                    <a:pt x="1205965" y="556567"/>
                  </a:lnTo>
                  <a:lnTo>
                    <a:pt x="1207782" y="603757"/>
                  </a:lnTo>
                  <a:lnTo>
                    <a:pt x="1205965" y="650957"/>
                  </a:lnTo>
                  <a:lnTo>
                    <a:pt x="1200604" y="697163"/>
                  </a:lnTo>
                  <a:lnTo>
                    <a:pt x="1191832" y="742240"/>
                  </a:lnTo>
                  <a:lnTo>
                    <a:pt x="1179785" y="786055"/>
                  </a:lnTo>
                  <a:lnTo>
                    <a:pt x="1164596" y="828473"/>
                  </a:lnTo>
                  <a:lnTo>
                    <a:pt x="1146400" y="869360"/>
                  </a:lnTo>
                  <a:lnTo>
                    <a:pt x="1125330" y="908581"/>
                  </a:lnTo>
                  <a:lnTo>
                    <a:pt x="1101522" y="946004"/>
                  </a:lnTo>
                  <a:lnTo>
                    <a:pt x="1075109" y="981492"/>
                  </a:lnTo>
                  <a:lnTo>
                    <a:pt x="1046226" y="1014913"/>
                  </a:lnTo>
                  <a:lnTo>
                    <a:pt x="1015007" y="1046132"/>
                  </a:lnTo>
                  <a:lnTo>
                    <a:pt x="981586" y="1075014"/>
                  </a:lnTo>
                  <a:lnTo>
                    <a:pt x="946097" y="1101426"/>
                  </a:lnTo>
                  <a:lnTo>
                    <a:pt x="908676" y="1125234"/>
                  </a:lnTo>
                  <a:lnTo>
                    <a:pt x="869455" y="1146302"/>
                  </a:lnTo>
                  <a:lnTo>
                    <a:pt x="828570" y="1164497"/>
                  </a:lnTo>
                  <a:lnTo>
                    <a:pt x="786154" y="1179685"/>
                  </a:lnTo>
                  <a:lnTo>
                    <a:pt x="742342" y="1191732"/>
                  </a:lnTo>
                  <a:lnTo>
                    <a:pt x="697268" y="1200503"/>
                  </a:lnTo>
                  <a:lnTo>
                    <a:pt x="651067" y="1205864"/>
                  </a:lnTo>
                  <a:lnTo>
                    <a:pt x="603872" y="1207681"/>
                  </a:lnTo>
                  <a:lnTo>
                    <a:pt x="556679" y="1205864"/>
                  </a:lnTo>
                  <a:lnTo>
                    <a:pt x="510479" y="1200503"/>
                  </a:lnTo>
                  <a:lnTo>
                    <a:pt x="465408" y="1191732"/>
                  </a:lnTo>
                  <a:lnTo>
                    <a:pt x="421598" y="1179685"/>
                  </a:lnTo>
                  <a:lnTo>
                    <a:pt x="379185" y="1164497"/>
                  </a:lnTo>
                  <a:lnTo>
                    <a:pt x="338302" y="1146302"/>
                  </a:lnTo>
                  <a:lnTo>
                    <a:pt x="299084" y="1125234"/>
                  </a:lnTo>
                  <a:lnTo>
                    <a:pt x="261664" y="1101426"/>
                  </a:lnTo>
                  <a:lnTo>
                    <a:pt x="226178" y="1075014"/>
                  </a:lnTo>
                  <a:lnTo>
                    <a:pt x="192760" y="1046132"/>
                  </a:lnTo>
                  <a:lnTo>
                    <a:pt x="161543" y="1014913"/>
                  </a:lnTo>
                  <a:lnTo>
                    <a:pt x="132662" y="981492"/>
                  </a:lnTo>
                  <a:lnTo>
                    <a:pt x="106251" y="946004"/>
                  </a:lnTo>
                  <a:lnTo>
                    <a:pt x="82445" y="908581"/>
                  </a:lnTo>
                  <a:lnTo>
                    <a:pt x="61377" y="869360"/>
                  </a:lnTo>
                  <a:lnTo>
                    <a:pt x="43182" y="828473"/>
                  </a:lnTo>
                  <a:lnTo>
                    <a:pt x="27994" y="786055"/>
                  </a:lnTo>
                  <a:lnTo>
                    <a:pt x="15948" y="742240"/>
                  </a:lnTo>
                  <a:lnTo>
                    <a:pt x="7177" y="697163"/>
                  </a:lnTo>
                  <a:lnTo>
                    <a:pt x="1816" y="650957"/>
                  </a:lnTo>
                  <a:lnTo>
                    <a:pt x="0" y="603757"/>
                  </a:lnTo>
                  <a:close/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7" name="Google Shape;297;p11"/>
          <p:cNvSpPr txBox="1"/>
          <p:nvPr/>
        </p:nvSpPr>
        <p:spPr>
          <a:xfrm>
            <a:off x="5335015" y="1089152"/>
            <a:ext cx="23082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sng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Benefits of the Solution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1"/>
          <p:cNvSpPr txBox="1"/>
          <p:nvPr>
            <p:ph idx="11" type="ftr"/>
          </p:nvPr>
        </p:nvSpPr>
        <p:spPr>
          <a:xfrm>
            <a:off x="5316092" y="6401604"/>
            <a:ext cx="1868170" cy="252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2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299" name="Google Shape;299;p11"/>
          <p:cNvSpPr txBox="1"/>
          <p:nvPr>
            <p:ph idx="12" type="sldNum"/>
          </p:nvPr>
        </p:nvSpPr>
        <p:spPr>
          <a:xfrm>
            <a:off x="11375390" y="6401604"/>
            <a:ext cx="167640" cy="252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25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0" name="Google Shape;300;p11"/>
          <p:cNvSpPr txBox="1"/>
          <p:nvPr/>
        </p:nvSpPr>
        <p:spPr>
          <a:xfrm>
            <a:off x="5528839" y="1665225"/>
            <a:ext cx="16554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AF50"/>
                </a:solidFill>
              </a:rPr>
              <a:t>Operational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1"/>
          <p:cNvSpPr txBox="1"/>
          <p:nvPr/>
        </p:nvSpPr>
        <p:spPr>
          <a:xfrm>
            <a:off x="5528817" y="1907235"/>
            <a:ext cx="53208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Reduces noise and false merges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Prioritizes meaningful investigative leads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Speeds up evidence review</a:t>
            </a:r>
            <a:endParaRPr/>
          </a:p>
        </p:txBody>
      </p:sp>
      <p:sp>
        <p:nvSpPr>
          <p:cNvPr id="302" name="Google Shape;302;p11"/>
          <p:cNvSpPr txBox="1"/>
          <p:nvPr/>
        </p:nvSpPr>
        <p:spPr>
          <a:xfrm>
            <a:off x="5528817" y="2763123"/>
            <a:ext cx="9939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AF50"/>
                </a:solidFill>
              </a:rPr>
              <a:t>Analytical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1"/>
          <p:cNvSpPr txBox="1"/>
          <p:nvPr/>
        </p:nvSpPr>
        <p:spPr>
          <a:xfrm>
            <a:off x="5627667" y="3030663"/>
            <a:ext cx="40692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86385" lvl="0" marL="2990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>
                <a:solidFill>
                  <a:schemeClr val="dk1"/>
                </a:solidFill>
              </a:rPr>
              <a:t>Weights evidence by independence and rarity</a:t>
            </a:r>
            <a:endParaRPr>
              <a:solidFill>
                <a:schemeClr val="dk1"/>
              </a:solidFill>
            </a:endParaRPr>
          </a:p>
          <a:p>
            <a:pPr indent="-286385" lvl="0" marL="2990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>
                <a:solidFill>
                  <a:schemeClr val="dk1"/>
                </a:solidFill>
              </a:rPr>
              <a:t>Surfaces counter-evidence and alternatives</a:t>
            </a:r>
            <a:endParaRPr>
              <a:solidFill>
                <a:schemeClr val="dk1"/>
              </a:solidFill>
            </a:endParaRPr>
          </a:p>
          <a:p>
            <a:pPr indent="-286385" lvl="0" marL="2990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>
                <a:solidFill>
                  <a:schemeClr val="dk1"/>
                </a:solidFill>
              </a:rPr>
              <a:t>Keeps attribution explainable and reproducible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4" name="Google Shape;304;p11"/>
          <p:cNvSpPr txBox="1"/>
          <p:nvPr/>
        </p:nvSpPr>
        <p:spPr>
          <a:xfrm>
            <a:off x="5528832" y="3861025"/>
            <a:ext cx="26928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AF50"/>
                </a:solidFill>
              </a:rPr>
              <a:t>Security &amp; Governance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1"/>
          <p:cNvSpPr txBox="1"/>
          <p:nvPr/>
        </p:nvSpPr>
        <p:spPr>
          <a:xfrm>
            <a:off x="5528817" y="4154113"/>
            <a:ext cx="40914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Provenance-sealed evidence and audit trails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Controlled, lawful data handling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Analyst remains the final decision-maker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6" name="Google Shape;306;p11"/>
          <p:cNvSpPr txBox="1"/>
          <p:nvPr/>
        </p:nvSpPr>
        <p:spPr>
          <a:xfrm>
            <a:off x="5528817" y="4530978"/>
            <a:ext cx="13869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1"/>
          <p:cNvSpPr txBox="1"/>
          <p:nvPr/>
        </p:nvSpPr>
        <p:spPr>
          <a:xfrm>
            <a:off x="5528817" y="4919670"/>
            <a:ext cx="48579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AF50"/>
                </a:solidFill>
              </a:rPr>
              <a:t>Scalability</a:t>
            </a:r>
            <a:endParaRPr b="1" sz="1600">
              <a:solidFill>
                <a:srgbClr val="00AF50"/>
              </a:solidFill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119125" y="212400"/>
            <a:ext cx="2006683" cy="575500"/>
          </a:xfrm>
          <a:custGeom>
            <a:rect b="b" l="l" r="r" t="t"/>
            <a:pathLst>
              <a:path extrusionOk="0" h="807719" w="1252220">
                <a:moveTo>
                  <a:pt x="0" y="403606"/>
                </a:moveTo>
                <a:lnTo>
                  <a:pt x="10085" y="331062"/>
                </a:lnTo>
                <a:lnTo>
                  <a:pt x="39161" y="262783"/>
                </a:lnTo>
                <a:lnTo>
                  <a:pt x="60268" y="230598"/>
                </a:lnTo>
                <a:lnTo>
                  <a:pt x="85461" y="199907"/>
                </a:lnTo>
                <a:lnTo>
                  <a:pt x="114517" y="170852"/>
                </a:lnTo>
                <a:lnTo>
                  <a:pt x="147216" y="143576"/>
                </a:lnTo>
                <a:lnTo>
                  <a:pt x="183337" y="118221"/>
                </a:lnTo>
                <a:lnTo>
                  <a:pt x="222658" y="94929"/>
                </a:lnTo>
                <a:lnTo>
                  <a:pt x="264960" y="73844"/>
                </a:lnTo>
                <a:lnTo>
                  <a:pt x="310021" y="55108"/>
                </a:lnTo>
                <a:lnTo>
                  <a:pt x="357619" y="38863"/>
                </a:lnTo>
                <a:lnTo>
                  <a:pt x="407534" y="25252"/>
                </a:lnTo>
                <a:lnTo>
                  <a:pt x="459545" y="14418"/>
                </a:lnTo>
                <a:lnTo>
                  <a:pt x="513432" y="6503"/>
                </a:lnTo>
                <a:lnTo>
                  <a:pt x="568972" y="1649"/>
                </a:lnTo>
                <a:lnTo>
                  <a:pt x="625944" y="0"/>
                </a:lnTo>
                <a:lnTo>
                  <a:pt x="682920" y="1649"/>
                </a:lnTo>
                <a:lnTo>
                  <a:pt x="738462" y="6503"/>
                </a:lnTo>
                <a:lnTo>
                  <a:pt x="792351" y="14418"/>
                </a:lnTo>
                <a:lnTo>
                  <a:pt x="844364" y="25252"/>
                </a:lnTo>
                <a:lnTo>
                  <a:pt x="894282" y="38863"/>
                </a:lnTo>
                <a:lnTo>
                  <a:pt x="941884" y="55108"/>
                </a:lnTo>
                <a:lnTo>
                  <a:pt x="986947" y="73844"/>
                </a:lnTo>
                <a:lnTo>
                  <a:pt x="1029251" y="94929"/>
                </a:lnTo>
                <a:lnTo>
                  <a:pt x="1068576" y="118221"/>
                </a:lnTo>
                <a:lnTo>
                  <a:pt x="1104699" y="143576"/>
                </a:lnTo>
                <a:lnTo>
                  <a:pt x="1137401" y="170852"/>
                </a:lnTo>
                <a:lnTo>
                  <a:pt x="1166459" y="199907"/>
                </a:lnTo>
                <a:lnTo>
                  <a:pt x="1191654" y="230598"/>
                </a:lnTo>
                <a:lnTo>
                  <a:pt x="1212763" y="262783"/>
                </a:lnTo>
                <a:lnTo>
                  <a:pt x="1241842" y="331062"/>
                </a:lnTo>
                <a:lnTo>
                  <a:pt x="1251927" y="403606"/>
                </a:lnTo>
                <a:lnTo>
                  <a:pt x="1249369" y="440359"/>
                </a:lnTo>
                <a:lnTo>
                  <a:pt x="1229566" y="510946"/>
                </a:lnTo>
                <a:lnTo>
                  <a:pt x="1191654" y="576692"/>
                </a:lnTo>
                <a:lnTo>
                  <a:pt x="1166459" y="607393"/>
                </a:lnTo>
                <a:lnTo>
                  <a:pt x="1137401" y="636457"/>
                </a:lnTo>
                <a:lnTo>
                  <a:pt x="1104699" y="663741"/>
                </a:lnTo>
                <a:lnTo>
                  <a:pt x="1068576" y="689101"/>
                </a:lnTo>
                <a:lnTo>
                  <a:pt x="1029251" y="712398"/>
                </a:lnTo>
                <a:lnTo>
                  <a:pt x="986947" y="733486"/>
                </a:lnTo>
                <a:lnTo>
                  <a:pt x="941884" y="752225"/>
                </a:lnTo>
                <a:lnTo>
                  <a:pt x="894282" y="768472"/>
                </a:lnTo>
                <a:lnTo>
                  <a:pt x="844364" y="782084"/>
                </a:lnTo>
                <a:lnTo>
                  <a:pt x="792351" y="792919"/>
                </a:lnTo>
                <a:lnTo>
                  <a:pt x="738462" y="800835"/>
                </a:lnTo>
                <a:lnTo>
                  <a:pt x="682920" y="805689"/>
                </a:lnTo>
                <a:lnTo>
                  <a:pt x="625944" y="807339"/>
                </a:lnTo>
                <a:lnTo>
                  <a:pt x="568972" y="805689"/>
                </a:lnTo>
                <a:lnTo>
                  <a:pt x="513432" y="800835"/>
                </a:lnTo>
                <a:lnTo>
                  <a:pt x="459545" y="792919"/>
                </a:lnTo>
                <a:lnTo>
                  <a:pt x="407534" y="782084"/>
                </a:lnTo>
                <a:lnTo>
                  <a:pt x="357619" y="768472"/>
                </a:lnTo>
                <a:lnTo>
                  <a:pt x="310021" y="752225"/>
                </a:lnTo>
                <a:lnTo>
                  <a:pt x="264960" y="733486"/>
                </a:lnTo>
                <a:lnTo>
                  <a:pt x="222658" y="712398"/>
                </a:lnTo>
                <a:lnTo>
                  <a:pt x="183337" y="689102"/>
                </a:lnTo>
                <a:lnTo>
                  <a:pt x="147216" y="663741"/>
                </a:lnTo>
                <a:lnTo>
                  <a:pt x="114517" y="636457"/>
                </a:lnTo>
                <a:lnTo>
                  <a:pt x="85461" y="607393"/>
                </a:lnTo>
                <a:lnTo>
                  <a:pt x="60268" y="576692"/>
                </a:lnTo>
                <a:lnTo>
                  <a:pt x="39161" y="544496"/>
                </a:lnTo>
                <a:lnTo>
                  <a:pt x="10085" y="476187"/>
                </a:lnTo>
                <a:lnTo>
                  <a:pt x="0" y="403606"/>
                </a:lnTo>
                <a:close/>
              </a:path>
            </a:pathLst>
          </a:custGeom>
          <a:noFill/>
          <a:ln cap="flat" cmpd="sng" w="25400">
            <a:solidFill>
              <a:srgbClr val="8063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1"/>
          <p:cNvSpPr txBox="1"/>
          <p:nvPr/>
        </p:nvSpPr>
        <p:spPr>
          <a:xfrm>
            <a:off x="419564" y="327150"/>
            <a:ext cx="15894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localhost:3000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 txBox="1"/>
          <p:nvPr/>
        </p:nvSpPr>
        <p:spPr>
          <a:xfrm>
            <a:off x="5428550" y="5178863"/>
            <a:ext cx="56631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Modular architecture supports phased expansion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Migration triggers enable infrastructure scaling as data grows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Reproducible design allows consistent deployment across environments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2"/>
          <p:cNvSpPr/>
          <p:nvPr/>
        </p:nvSpPr>
        <p:spPr>
          <a:xfrm>
            <a:off x="0" y="6354762"/>
            <a:ext cx="12192000" cy="503555"/>
          </a:xfrm>
          <a:custGeom>
            <a:rect b="b" l="l" r="r" t="t"/>
            <a:pathLst>
              <a:path extrusionOk="0" h="503554" w="12192000">
                <a:moveTo>
                  <a:pt x="12192000" y="0"/>
                </a:moveTo>
                <a:lnTo>
                  <a:pt x="0" y="0"/>
                </a:lnTo>
                <a:lnTo>
                  <a:pt x="0" y="503237"/>
                </a:lnTo>
                <a:lnTo>
                  <a:pt x="12192000" y="5032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$PPTXTitle" id="316" name="Google Shape;316;p12"/>
          <p:cNvSpPr txBox="1"/>
          <p:nvPr>
            <p:ph type="title"/>
          </p:nvPr>
        </p:nvSpPr>
        <p:spPr>
          <a:xfrm>
            <a:off x="2607945" y="221437"/>
            <a:ext cx="6976109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RESEARCH AND REFERENCES</a:t>
            </a:r>
            <a:endParaRPr/>
          </a:p>
        </p:txBody>
      </p:sp>
      <p:pic>
        <p:nvPicPr>
          <p:cNvPr descr="https://www.sih.gov.in/img1/SIH-Logo.png" id="317" name="Google Shape;31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65767" y="118112"/>
            <a:ext cx="2160343" cy="1000819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2"/>
          <p:cNvSpPr txBox="1"/>
          <p:nvPr/>
        </p:nvSpPr>
        <p:spPr>
          <a:xfrm>
            <a:off x="515518" y="1141857"/>
            <a:ext cx="10143000" cy="47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US">
                <a:solidFill>
                  <a:schemeClr val="dk1"/>
                </a:solidFill>
              </a:rPr>
              <a:t>Opensource Intelligence and Dark Web User De-anonymisation (2023)</a:t>
            </a:r>
            <a:br>
              <a:rPr b="1"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https://www.researchgate.net/publication/366760488_Opensource_Intelligence_and_Dark_Web_User_De-anonymisation</a:t>
            </a:r>
            <a:endParaRPr u="sng">
              <a:solidFill>
                <a:schemeClr val="hlink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US">
                <a:solidFill>
                  <a:schemeClr val="dk1"/>
                </a:solidFill>
              </a:rPr>
              <a:t>Tor: The Second-Generation Onion Router (2004)</a:t>
            </a:r>
            <a:br>
              <a:rPr b="1"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7"/>
              </a:rPr>
              <a:t>https://www.usenix.org/conference/13th-usenix-security-symposium/tor-second-generation-onion-router</a:t>
            </a:r>
            <a:endParaRPr u="sng">
              <a:solidFill>
                <a:schemeClr val="hlink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US">
                <a:solidFill>
                  <a:schemeClr val="dk1"/>
                </a:solidFill>
              </a:rPr>
              <a:t>De-anonymisation Attacks on Tor: A Survey (2021)</a:t>
            </a:r>
            <a:br>
              <a:rPr b="1" lang="en-US">
                <a:solidFill>
                  <a:schemeClr val="dk1"/>
                </a:solidFill>
              </a:rPr>
            </a:br>
            <a:r>
              <a:rPr lang="en-US" u="sng">
                <a:solidFill>
                  <a:schemeClr val="hlink"/>
                </a:solidFill>
                <a:hlinkClick r:id="rId8"/>
              </a:rPr>
              <a:t>https://doi.org/10.1109/COMST.2021.3093615</a:t>
            </a:r>
            <a:r>
              <a:rPr lang="en-US">
                <a:solidFill>
                  <a:schemeClr val="dk1"/>
                </a:solidFill>
              </a:rPr>
              <a:t>	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US">
                <a:solidFill>
                  <a:schemeClr val="dk1"/>
                </a:solidFill>
              </a:rPr>
              <a:t>Deanonymizing Tor Hidden Service Users Through Bitcoin Transactions Analysis (2020)</a:t>
            </a:r>
            <a:br>
              <a:rPr b="1" lang="en-US">
                <a:solidFill>
                  <a:schemeClr val="dk1"/>
                </a:solidFill>
              </a:rPr>
            </a:br>
            <a:r>
              <a:rPr lang="en-US" u="sng">
                <a:solidFill>
                  <a:schemeClr val="hlink"/>
                </a:solidFill>
                <a:hlinkClick r:id="rId9"/>
              </a:rPr>
              <a:t>https://doi.org/10.1016/j.cose.2019.101684</a:t>
            </a:r>
            <a:r>
              <a:rPr lang="en-US">
                <a:solidFill>
                  <a:schemeClr val="dk1"/>
                </a:solidFill>
              </a:rPr>
              <a:t>	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US">
                <a:solidFill>
                  <a:schemeClr val="dk1"/>
                </a:solidFill>
              </a:rPr>
              <a:t>Dizzy: Large-Scale Crawling and Analysis of Onion Services (2023)</a:t>
            </a:r>
            <a:br>
              <a:rPr b="1"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</a:t>
            </a:r>
            <a:r>
              <a:rPr lang="en-US" u="sng">
                <a:solidFill>
                  <a:schemeClr val="hlink"/>
                </a:solidFill>
                <a:hlinkClick r:id="rId10"/>
              </a:rPr>
              <a:t>https://doi.org/10.1145/3600160.3600167</a:t>
            </a:r>
            <a:r>
              <a:rPr lang="en-US">
                <a:solidFill>
                  <a:schemeClr val="dk1"/>
                </a:solidFill>
              </a:rPr>
              <a:t>	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US">
                <a:solidFill>
                  <a:schemeClr val="dk1"/>
                </a:solidFill>
              </a:rPr>
              <a:t>BlockTag: Design and Applications of a Tagging System for Blockchain Analysis (2019)</a:t>
            </a:r>
            <a:br>
              <a:rPr b="1" lang="en-US">
                <a:solidFill>
                  <a:schemeClr val="dk1"/>
                </a:solidFill>
              </a:rPr>
            </a:br>
            <a:r>
              <a:rPr lang="en-US" u="sng">
                <a:solidFill>
                  <a:schemeClr val="hlink"/>
                </a:solidFill>
                <a:hlinkClick r:id="rId11"/>
              </a:rPr>
              <a:t>https://doi.org/10.1007/978-3-030-22312-0_21</a:t>
            </a:r>
            <a:r>
              <a:rPr lang="en-US">
                <a:solidFill>
                  <a:schemeClr val="dk1"/>
                </a:solidFill>
              </a:rPr>
              <a:t>	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US">
                <a:solidFill>
                  <a:schemeClr val="dk1"/>
                </a:solidFill>
              </a:rPr>
              <a:t>A Theory for Record Linkage (1969)</a:t>
            </a:r>
            <a:br>
              <a:rPr b="1"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13"/>
              </a:rPr>
              <a:t>https://doi.org/10.1080/01621459.1969.10501049</a:t>
            </a:r>
            <a:endParaRPr u="sng">
              <a:solidFill>
                <a:schemeClr val="hlink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US">
                <a:solidFill>
                  <a:schemeClr val="dk1"/>
                </a:solidFill>
              </a:rPr>
              <a:t>Reliable Support: Measuring Calibration of Likelihood Ratios (2013)</a:t>
            </a:r>
            <a:br>
              <a:rPr b="1"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</a:t>
            </a:r>
            <a:r>
              <a:rPr lang="en-US" u="sng">
                <a:solidFill>
                  <a:schemeClr val="hlink"/>
                </a:solidFill>
                <a:hlinkClick r:id="rId14"/>
              </a:rPr>
              <a:t>https://doi.org/10.1016/j.forsciint.2013.04.014</a:t>
            </a:r>
            <a:r>
              <a:rPr lang="en-US">
                <a:solidFill>
                  <a:schemeClr val="dk1"/>
                </a:solidFill>
              </a:rPr>
              <a:t>	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AF5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None/>
            </a:pPr>
            <a:r>
              <a:rPr b="1" lang="en-US" sz="1400" u="sng">
                <a:latin typeface="Arial"/>
                <a:ea typeface="Arial"/>
                <a:cs typeface="Arial"/>
                <a:sym typeface="Arial"/>
              </a:rPr>
              <a:t>PROTOTYPE: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u="sng">
                <a:solidFill>
                  <a:schemeClr val="hlink"/>
                </a:solidFill>
                <a:hlinkClick r:id="rId15"/>
              </a:rPr>
              <a:t>https://github.com/Yashp-2006/SIH26151.git</a:t>
            </a:r>
            <a:r>
              <a:rPr lang="en-US"/>
              <a:t>	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2"/>
          <p:cNvSpPr txBox="1"/>
          <p:nvPr>
            <p:ph idx="11" type="ftr"/>
          </p:nvPr>
        </p:nvSpPr>
        <p:spPr>
          <a:xfrm>
            <a:off x="5316092" y="6401604"/>
            <a:ext cx="1868170" cy="252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2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320" name="Google Shape;320;p12"/>
          <p:cNvSpPr txBox="1"/>
          <p:nvPr>
            <p:ph idx="12" type="sldNum"/>
          </p:nvPr>
        </p:nvSpPr>
        <p:spPr>
          <a:xfrm>
            <a:off x="11375390" y="6401604"/>
            <a:ext cx="167640" cy="252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25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1" name="Google Shape;321;p12"/>
          <p:cNvSpPr/>
          <p:nvPr/>
        </p:nvSpPr>
        <p:spPr>
          <a:xfrm>
            <a:off x="119125" y="212400"/>
            <a:ext cx="2006683" cy="575500"/>
          </a:xfrm>
          <a:custGeom>
            <a:rect b="b" l="l" r="r" t="t"/>
            <a:pathLst>
              <a:path extrusionOk="0" h="807719" w="1252220">
                <a:moveTo>
                  <a:pt x="0" y="403606"/>
                </a:moveTo>
                <a:lnTo>
                  <a:pt x="10085" y="331062"/>
                </a:lnTo>
                <a:lnTo>
                  <a:pt x="39161" y="262783"/>
                </a:lnTo>
                <a:lnTo>
                  <a:pt x="60268" y="230598"/>
                </a:lnTo>
                <a:lnTo>
                  <a:pt x="85461" y="199907"/>
                </a:lnTo>
                <a:lnTo>
                  <a:pt x="114517" y="170852"/>
                </a:lnTo>
                <a:lnTo>
                  <a:pt x="147216" y="143576"/>
                </a:lnTo>
                <a:lnTo>
                  <a:pt x="183337" y="118221"/>
                </a:lnTo>
                <a:lnTo>
                  <a:pt x="222658" y="94929"/>
                </a:lnTo>
                <a:lnTo>
                  <a:pt x="264960" y="73844"/>
                </a:lnTo>
                <a:lnTo>
                  <a:pt x="310021" y="55108"/>
                </a:lnTo>
                <a:lnTo>
                  <a:pt x="357619" y="38863"/>
                </a:lnTo>
                <a:lnTo>
                  <a:pt x="407534" y="25252"/>
                </a:lnTo>
                <a:lnTo>
                  <a:pt x="459545" y="14418"/>
                </a:lnTo>
                <a:lnTo>
                  <a:pt x="513432" y="6503"/>
                </a:lnTo>
                <a:lnTo>
                  <a:pt x="568972" y="1649"/>
                </a:lnTo>
                <a:lnTo>
                  <a:pt x="625944" y="0"/>
                </a:lnTo>
                <a:lnTo>
                  <a:pt x="682920" y="1649"/>
                </a:lnTo>
                <a:lnTo>
                  <a:pt x="738462" y="6503"/>
                </a:lnTo>
                <a:lnTo>
                  <a:pt x="792351" y="14418"/>
                </a:lnTo>
                <a:lnTo>
                  <a:pt x="844364" y="25252"/>
                </a:lnTo>
                <a:lnTo>
                  <a:pt x="894282" y="38863"/>
                </a:lnTo>
                <a:lnTo>
                  <a:pt x="941884" y="55108"/>
                </a:lnTo>
                <a:lnTo>
                  <a:pt x="986947" y="73844"/>
                </a:lnTo>
                <a:lnTo>
                  <a:pt x="1029251" y="94929"/>
                </a:lnTo>
                <a:lnTo>
                  <a:pt x="1068576" y="118221"/>
                </a:lnTo>
                <a:lnTo>
                  <a:pt x="1104699" y="143576"/>
                </a:lnTo>
                <a:lnTo>
                  <a:pt x="1137401" y="170852"/>
                </a:lnTo>
                <a:lnTo>
                  <a:pt x="1166459" y="199907"/>
                </a:lnTo>
                <a:lnTo>
                  <a:pt x="1191654" y="230598"/>
                </a:lnTo>
                <a:lnTo>
                  <a:pt x="1212763" y="262783"/>
                </a:lnTo>
                <a:lnTo>
                  <a:pt x="1241842" y="331062"/>
                </a:lnTo>
                <a:lnTo>
                  <a:pt x="1251927" y="403606"/>
                </a:lnTo>
                <a:lnTo>
                  <a:pt x="1249369" y="440359"/>
                </a:lnTo>
                <a:lnTo>
                  <a:pt x="1229566" y="510946"/>
                </a:lnTo>
                <a:lnTo>
                  <a:pt x="1191654" y="576692"/>
                </a:lnTo>
                <a:lnTo>
                  <a:pt x="1166459" y="607393"/>
                </a:lnTo>
                <a:lnTo>
                  <a:pt x="1137401" y="636457"/>
                </a:lnTo>
                <a:lnTo>
                  <a:pt x="1104699" y="663741"/>
                </a:lnTo>
                <a:lnTo>
                  <a:pt x="1068576" y="689101"/>
                </a:lnTo>
                <a:lnTo>
                  <a:pt x="1029251" y="712398"/>
                </a:lnTo>
                <a:lnTo>
                  <a:pt x="986947" y="733486"/>
                </a:lnTo>
                <a:lnTo>
                  <a:pt x="941884" y="752225"/>
                </a:lnTo>
                <a:lnTo>
                  <a:pt x="894282" y="768472"/>
                </a:lnTo>
                <a:lnTo>
                  <a:pt x="844364" y="782084"/>
                </a:lnTo>
                <a:lnTo>
                  <a:pt x="792351" y="792919"/>
                </a:lnTo>
                <a:lnTo>
                  <a:pt x="738462" y="800835"/>
                </a:lnTo>
                <a:lnTo>
                  <a:pt x="682920" y="805689"/>
                </a:lnTo>
                <a:lnTo>
                  <a:pt x="625944" y="807339"/>
                </a:lnTo>
                <a:lnTo>
                  <a:pt x="568972" y="805689"/>
                </a:lnTo>
                <a:lnTo>
                  <a:pt x="513432" y="800835"/>
                </a:lnTo>
                <a:lnTo>
                  <a:pt x="459545" y="792919"/>
                </a:lnTo>
                <a:lnTo>
                  <a:pt x="407534" y="782084"/>
                </a:lnTo>
                <a:lnTo>
                  <a:pt x="357619" y="768472"/>
                </a:lnTo>
                <a:lnTo>
                  <a:pt x="310021" y="752225"/>
                </a:lnTo>
                <a:lnTo>
                  <a:pt x="264960" y="733486"/>
                </a:lnTo>
                <a:lnTo>
                  <a:pt x="222658" y="712398"/>
                </a:lnTo>
                <a:lnTo>
                  <a:pt x="183337" y="689102"/>
                </a:lnTo>
                <a:lnTo>
                  <a:pt x="147216" y="663741"/>
                </a:lnTo>
                <a:lnTo>
                  <a:pt x="114517" y="636457"/>
                </a:lnTo>
                <a:lnTo>
                  <a:pt x="85461" y="607393"/>
                </a:lnTo>
                <a:lnTo>
                  <a:pt x="60268" y="576692"/>
                </a:lnTo>
                <a:lnTo>
                  <a:pt x="39161" y="544496"/>
                </a:lnTo>
                <a:lnTo>
                  <a:pt x="10085" y="476187"/>
                </a:lnTo>
                <a:lnTo>
                  <a:pt x="0" y="403606"/>
                </a:lnTo>
                <a:close/>
              </a:path>
            </a:pathLst>
          </a:custGeom>
          <a:noFill/>
          <a:ln cap="flat" cmpd="sng" w="25400">
            <a:solidFill>
              <a:srgbClr val="8063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2"/>
          <p:cNvSpPr txBox="1"/>
          <p:nvPr/>
        </p:nvSpPr>
        <p:spPr>
          <a:xfrm>
            <a:off x="419564" y="327150"/>
            <a:ext cx="15894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localhost:3000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